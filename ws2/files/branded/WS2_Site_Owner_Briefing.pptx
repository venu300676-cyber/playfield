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ssion overview" id="{aac811bf-af8d-7e5d-a0c6-6f9925ed4ff8}">
          <p14:sldIdLst>
            <p14:sldId id="256"/>
          </p14:sldIdLst>
        </p14:section>
        <p14:section name="Breakout" id="{176983d3-7e29-fab7-7110-62c96d3d7a4b}">
          <p14:sldIdLst>
            <p14:sldId id="257"/>
          </p14:sldIdLst>
        </p14:section>
        <p14:section name="FAQ" id="{88f5c4c1-f8e5-3242-ce5f-0c68b7e52cbf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session left to right.
1. Introduction (10 min, plenary): why the PM role is changing, and the goal of the session: define your work around AI. Participants already know their room, so they go straight in afterwards.
2. AI use cases (2 x 15 min, plenary): two real use cases show what an agent can take over and what it took to get there.
3. Breakout (60 min, rooms C1 to C6): each room works one KESTREL case. The group lead runs the room and builds the agent in Agent Builder; the team checks and records the results. Every room leaves with a Pilot Pack and a 90-second summary.
4. Wrap-up (20 min, plenary): the Summit Debrief. Each room shares its 90-second summary: what it will try next week, the time it could save and what it still has to fix. Feedback coordinators are named.
Before: rooms are allocated in the invitation on 29 Oct and pre-work is done by 3 Nov; every group lead has Agent Builder activated. On the day, site owners provide a space per room near the plenary, a laptop, screen, network and tool access, and the case, sample data and Pilot Pack. After: every room tries its agent the week after the summit, the feedback coordinators collect the results, and the 30-day readout follows in early December.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60-minute breakout: one common plan for all rooms.
Before the day: every participant knows their room and case (C1 to C6) from the invitation and has done the pre-work. Each group lead has Agent Builder activated in Copilot Premium.
1. Orient, 0 to 5: the group lead reads the case aloud, assigns roles and opens Agent Builder. Checkpoint: roles assigned, Agent Builder ready to use.
2. Map the hours, 5 to 15: estimate the time per task, pick the repetitive work the agent can help with and a use for the time saved. Checkpoint: current hours per PM per week and the expected benefit.
3. Design the agent, 15 to 27: write the instructions and what the PM still decides; define a key failure and what counts as passing each test. Checkpoint: three tests: quality, time saved, PM approval rules.
4. Build &amp; challenge, 27 to 42: the group lead builds the agent and runs the three tests; the other members check the results and suggest modifications. Checkpoint: results and task time, including the PM review, recorded.
5. Fix &amp; decide, 42 to 50: fix and rerun failed tests; agree what the agent must check with the PM before acting. Checkpoint: instructions updated; tests passed, or the fixes still needed.
6. Package &amp; commit, 50 to 60: choose a feedback coordinator and a task for everyone next week, once tests pass and access is ready. Checkpoint: coordinator on the card, Pilot Pack submitted, 90-second summary practised.
After: the rooms return for the wrap-up, where each room shares its 90-second summary: what it will try next week, the time it could save and what it still has to fix.
Every room: at most 8 people with mixed experience. The group lead facilitates and builds; the team checks and records results. Each room needs a space near the whole-group session, a laptop, screen, network and tool access, and the case, sample data and Pilot Pack.
If something goes wrong: running late, keep the checks and next steps. Group lead absent, the room chooses a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twelve questions we expect most. Left column: before the summit. Right column: on the day and after.
Dates: group lead briefing Fri 23 Oct; allocation final Mon 26 Oct; invitation and pre-work sent Thu 29 Oct; pre-work done and group leads confirm Agent Builder access Tue 3 Nov; summit Thu 5 Nov; 30-day readout early December.
Agent Builder access: group leads request it through the form https://forms.cloud.microsoft/e/KjfvXMztWp and confirm they can create a test agent before 3 Nov, never in the room.
Data: rooms paste only the KESTREL case files into the tool. Real project data enters a pilot only through an approved tool and with data approval.
Pilot Packs are submitted through the capture link, an MS Form that mirrors the Pilot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view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M Summit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36" y="274320"/>
            <a:ext cx="749808" cy="749808"/>
          </a:xfrm>
          <a:prstGeom prst="rect">
            <a:avLst/>
          </a:prstGeom>
        </p:spPr>
      </p:pic>
      <p:pic>
        <p:nvPicPr>
          <p:cNvPr id="3" name="Image 1" descr="SPARK, AI powered PM practi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66344"/>
            <a:ext cx="1170432" cy="365760"/>
          </a:xfrm>
          <a:prstGeom prst="rect">
            <a:avLst/>
          </a:prstGeom>
        </p:spPr>
      </p:pic>
      <p:pic>
        <p:nvPicPr>
          <p:cNvPr id="4" name="Image 2" descr="NX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466344"/>
            <a:ext cx="923544" cy="3657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57200" y="64373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Workstream 2 · PM Role in an AI World · for regional moderators and site owners</a:t>
            </a:r>
            <a:endParaRPr lang="en-US" sz="10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57200" y="548640"/>
            <a:ext cx="8001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57200" y="1097280"/>
            <a:ext cx="804672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37376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9BC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37376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9BC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forms.cloud.microsoft/e/KjfvXMztWp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PM SUMMIT 2026 · THURSDAY 5 NOVEMBER · EVERY REGION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5486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PM Role in an AI World: the session at a glance</a:t>
            </a:r>
            <a:endParaRPr lang="en-US" sz="2700" dirty="0"/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457200" y="10972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120 minutes, the same in every region. One outcome: an agent every room tries the week after.</a:t>
            </a:r>
            <a:endParaRPr lang="en-US" sz="1400" dirty="0"/>
          </a:p>
        </p:txBody>
      </p:sp>
      <p:sp>
        <p:nvSpPr>
          <p:cNvPr id="5" name="strip-1"/>
          <p:cNvSpPr/>
          <p:nvPr/>
        </p:nvSpPr>
        <p:spPr>
          <a:xfrm>
            <a:off x="457200" y="1572768"/>
            <a:ext cx="90297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572768"/>
            <a:ext cx="90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 min</a:t>
            </a:r>
            <a:endParaRPr lang="en-US" sz="1200" dirty="0"/>
          </a:p>
        </p:txBody>
      </p:sp>
      <p:sp>
        <p:nvSpPr>
          <p:cNvPr id="7" name="strip-2"/>
          <p:cNvSpPr/>
          <p:nvPr/>
        </p:nvSpPr>
        <p:spPr>
          <a:xfrm>
            <a:off x="1396746" y="1572768"/>
            <a:ext cx="2782062" cy="3474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96746" y="1572768"/>
            <a:ext cx="27820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 × 15 min</a:t>
            </a:r>
            <a:endParaRPr lang="en-US" sz="1200" dirty="0"/>
          </a:p>
        </p:txBody>
      </p:sp>
      <p:sp>
        <p:nvSpPr>
          <p:cNvPr id="9" name="strip-3"/>
          <p:cNvSpPr/>
          <p:nvPr/>
        </p:nvSpPr>
        <p:spPr>
          <a:xfrm>
            <a:off x="4215384" y="1572768"/>
            <a:ext cx="5600700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15384" y="1572768"/>
            <a:ext cx="5600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60 min · breakout rooms</a:t>
            </a:r>
            <a:endParaRPr lang="en-US" sz="1200" dirty="0"/>
          </a:p>
        </p:txBody>
      </p:sp>
      <p:sp>
        <p:nvSpPr>
          <p:cNvPr id="11" name="strip-4"/>
          <p:cNvSpPr/>
          <p:nvPr/>
        </p:nvSpPr>
        <p:spPr>
          <a:xfrm>
            <a:off x="9852660" y="1572768"/>
            <a:ext cx="1842516" cy="3474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52660" y="1572768"/>
            <a:ext cx="18425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 min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956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0′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96746" y="1956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10′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215384" y="1956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40′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852660" y="1956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100′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00232" y="1956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120 min</a:t>
            </a:r>
            <a:endParaRPr lang="en-US" sz="1000" dirty="0"/>
          </a:p>
        </p:txBody>
      </p:sp>
      <p:sp>
        <p:nvSpPr>
          <p:cNvPr id="18" name="card-1"/>
          <p:cNvSpPr/>
          <p:nvPr/>
        </p:nvSpPr>
        <p:spPr>
          <a:xfrm>
            <a:off x="457200" y="2212848"/>
            <a:ext cx="2103120" cy="2761488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19" name="badge-1"/>
          <p:cNvSpPr/>
          <p:nvPr/>
        </p:nvSpPr>
        <p:spPr>
          <a:xfrm>
            <a:off x="640080" y="239572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21" name="name-1"/>
          <p:cNvSpPr txBox="1"/>
          <p:nvPr/>
        </p:nvSpPr>
        <p:spPr>
          <a:xfrm>
            <a:off x="1170432" y="239572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9077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10 min · plenary · moderator</a:t>
            </a:r>
            <a:endParaRPr lang="en-US" sz="1100" dirty="0"/>
          </a:p>
        </p:txBody>
      </p:sp>
      <p:sp>
        <p:nvSpPr>
          <p:cNvPr id="23" name="items-1"/>
          <p:cNvSpPr txBox="1"/>
          <p:nvPr/>
        </p:nvSpPr>
        <p:spPr>
          <a:xfrm>
            <a:off x="640080" y="3236976"/>
            <a:ext cx="1783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Why the PM role is changing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Goal: define your work around AI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Everyone already knows their room</a:t>
            </a:r>
            <a:endParaRPr lang="en-US" sz="1400" dirty="0"/>
          </a:p>
        </p:txBody>
      </p:sp>
      <p:sp>
        <p:nvSpPr>
          <p:cNvPr id="24" name="card-2"/>
          <p:cNvSpPr/>
          <p:nvPr/>
        </p:nvSpPr>
        <p:spPr>
          <a:xfrm>
            <a:off x="2743200" y="2212848"/>
            <a:ext cx="2423160" cy="2761488"/>
          </a:xfrm>
          <a:prstGeom prst="roundRect">
            <a:avLst>
              <a:gd name="adj" fmla="val 3019"/>
            </a:avLst>
          </a:prstGeom>
          <a:solidFill>
            <a:schemeClr val="tx2"/>
          </a:solidFill>
          <a:ln/>
        </p:spPr>
      </p:sp>
      <p:sp>
        <p:nvSpPr>
          <p:cNvPr id="25" name="badge-2"/>
          <p:cNvSpPr/>
          <p:nvPr/>
        </p:nvSpPr>
        <p:spPr>
          <a:xfrm>
            <a:off x="2926080" y="2395728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92608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27" name="name-2"/>
          <p:cNvSpPr txBox="1"/>
          <p:nvPr/>
        </p:nvSpPr>
        <p:spPr>
          <a:xfrm>
            <a:off x="3456432" y="239572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2926080" y="29077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2 × 15 min · plenary · 2 speakers</a:t>
            </a:r>
            <a:endParaRPr lang="en-US" sz="1100" dirty="0"/>
          </a:p>
        </p:txBody>
      </p:sp>
      <p:sp>
        <p:nvSpPr>
          <p:cNvPr id="29" name="items-2"/>
          <p:cNvSpPr txBox="1"/>
          <p:nvPr/>
        </p:nvSpPr>
        <p:spPr>
          <a:xfrm>
            <a:off x="2926080" y="3236976"/>
            <a:ext cx="21031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Two real AI use cases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What it took and what it gave back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Sets the bar for the pilots</a:t>
            </a:r>
            <a:endParaRPr lang="en-US" sz="1400" dirty="0"/>
          </a:p>
        </p:txBody>
      </p:sp>
      <p:sp>
        <p:nvSpPr>
          <p:cNvPr id="30" name="card-3"/>
          <p:cNvSpPr/>
          <p:nvPr/>
        </p:nvSpPr>
        <p:spPr>
          <a:xfrm>
            <a:off x="5349240" y="2212848"/>
            <a:ext cx="3840480" cy="2761488"/>
          </a:xfrm>
          <a:prstGeom prst="roundRect">
            <a:avLst>
              <a:gd name="adj" fmla="val 2649"/>
            </a:avLst>
          </a:prstGeom>
          <a:solidFill>
            <a:schemeClr val="tx2"/>
          </a:solidFill>
          <a:ln/>
        </p:spPr>
      </p:sp>
      <p:sp>
        <p:nvSpPr>
          <p:cNvPr id="31" name="badge-3"/>
          <p:cNvSpPr/>
          <p:nvPr/>
        </p:nvSpPr>
        <p:spPr>
          <a:xfrm>
            <a:off x="5532120" y="23957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53212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name-3"/>
          <p:cNvSpPr txBox="1"/>
          <p:nvPr/>
        </p:nvSpPr>
        <p:spPr>
          <a:xfrm>
            <a:off x="6062472" y="23957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Pain to Pilot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5532120" y="29077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60 min · rooms C1–C6 · group lead + team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32120" y="3218688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532120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Orient 5′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20840" y="3218688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720840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Map the hours 10′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09560" y="3218688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909560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Design 12′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32120" y="3566160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53212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Build &amp; challenge 15′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20840" y="3566160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72084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Fix &amp; decide 8′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3566160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90956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Commit 10′</a:t>
            </a:r>
            <a:endParaRPr lang="en-US" sz="1000" dirty="0"/>
          </a:p>
        </p:txBody>
      </p:sp>
      <p:sp>
        <p:nvSpPr>
          <p:cNvPr id="47" name="items-3"/>
          <p:cNvSpPr txBox="1"/>
          <p:nvPr/>
        </p:nvSpPr>
        <p:spPr>
          <a:xfrm>
            <a:off x="5532120" y="399592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case, one agent, one pilot per room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Agent takes routine, PM keeps judgment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Output: Pilot Pack + 90-second summary</a:t>
            </a:r>
            <a:endParaRPr lang="en-US" sz="1400" dirty="0"/>
          </a:p>
        </p:txBody>
      </p:sp>
      <p:sp>
        <p:nvSpPr>
          <p:cNvPr id="48" name="card-4"/>
          <p:cNvSpPr/>
          <p:nvPr/>
        </p:nvSpPr>
        <p:spPr>
          <a:xfrm>
            <a:off x="9372600" y="2212848"/>
            <a:ext cx="2359152" cy="2761488"/>
          </a:xfrm>
          <a:prstGeom prst="roundRect">
            <a:avLst>
              <a:gd name="adj" fmla="val 3101"/>
            </a:avLst>
          </a:prstGeom>
          <a:solidFill>
            <a:schemeClr val="tx2"/>
          </a:solidFill>
          <a:ln/>
        </p:spPr>
      </p:sp>
      <p:sp>
        <p:nvSpPr>
          <p:cNvPr id="49" name="badge-4"/>
          <p:cNvSpPr/>
          <p:nvPr/>
        </p:nvSpPr>
        <p:spPr>
          <a:xfrm>
            <a:off x="9555480" y="2395728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55548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51" name="name-4"/>
          <p:cNvSpPr txBox="1"/>
          <p:nvPr/>
        </p:nvSpPr>
        <p:spPr>
          <a:xfrm>
            <a:off x="10085832" y="239572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700" dirty="0"/>
          </a:p>
        </p:txBody>
      </p:sp>
      <p:sp>
        <p:nvSpPr>
          <p:cNvPr id="52" name="Text 50"/>
          <p:cNvSpPr txBox="1"/>
          <p:nvPr/>
        </p:nvSpPr>
        <p:spPr>
          <a:xfrm>
            <a:off x="9555480" y="2907792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20 min · plenary · debrief host</a:t>
            </a:r>
            <a:endParaRPr lang="en-US" sz="1100" dirty="0"/>
          </a:p>
        </p:txBody>
      </p:sp>
      <p:sp>
        <p:nvSpPr>
          <p:cNvPr id="53" name="items-4"/>
          <p:cNvSpPr txBox="1"/>
          <p:nvPr/>
        </p:nvSpPr>
        <p:spPr>
          <a:xfrm>
            <a:off x="9555480" y="3236976"/>
            <a:ext cx="20391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Summit Debrief: 90 s per room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What each room tries next week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Feedback coordinators named</a:t>
            </a:r>
            <a:endParaRPr lang="en-US" sz="1400" dirty="0"/>
          </a:p>
        </p:txBody>
      </p:sp>
      <p:sp>
        <p:nvSpPr>
          <p:cNvPr id="54" name="band-1"/>
          <p:cNvSpPr/>
          <p:nvPr/>
        </p:nvSpPr>
        <p:spPr>
          <a:xfrm>
            <a:off x="457200" y="5138928"/>
            <a:ext cx="3636264" cy="11887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40080" y="5248656"/>
            <a:ext cx="3270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BEFORE · BY TUE 3 NOV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5522976"/>
            <a:ext cx="3316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Rooms allocated in the invitation (29 Oct)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Pre-work: story, case file, own week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Group lead per room with Agent Builder</a:t>
            </a:r>
            <a:endParaRPr lang="en-US" sz="1400" dirty="0"/>
          </a:p>
        </p:txBody>
      </p:sp>
      <p:sp>
        <p:nvSpPr>
          <p:cNvPr id="57" name="band-2"/>
          <p:cNvSpPr/>
          <p:nvPr/>
        </p:nvSpPr>
        <p:spPr>
          <a:xfrm>
            <a:off x="4276344" y="5138928"/>
            <a:ext cx="3636264" cy="11887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459224" y="5248656"/>
            <a:ext cx="3270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SITE OWNERS · ON THE DAY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459224" y="5522976"/>
            <a:ext cx="3316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space per room near the plenary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Laptop, screen, network, tool access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Case, sample data and Pilot Pack</a:t>
            </a:r>
            <a:endParaRPr lang="en-US" sz="1400" dirty="0"/>
          </a:p>
        </p:txBody>
      </p:sp>
      <p:sp>
        <p:nvSpPr>
          <p:cNvPr id="60" name="band-3"/>
          <p:cNvSpPr/>
          <p:nvPr/>
        </p:nvSpPr>
        <p:spPr>
          <a:xfrm>
            <a:off x="8095488" y="5138928"/>
            <a:ext cx="3636264" cy="11887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278368" y="5248656"/>
            <a:ext cx="3270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AFTER THE SUMMIT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8278368" y="5522976"/>
            <a:ext cx="3316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Each room tries its agent the next week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Feedback coordinators collect results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30-day readout in early December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37376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9BC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BREAKOUT · 60 MINUTES · COMMON PLAN FOR ALL ROOMS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5486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How the breakout unfolds</a:t>
            </a:r>
            <a:endParaRPr lang="en-US" sz="2700" dirty="0"/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457200" y="10972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Six steps per room. Every Pilot Pack records results, unfinished work and next steps.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361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bg2"/>
                </a:solidFill>
              </a:rPr>
              <a:t>MINUTES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5361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bg2"/>
                </a:solidFill>
              </a:rPr>
              <a:t>STEP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15361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bg2"/>
                </a:solidFill>
              </a:rPr>
              <a:t>WHAT THE ROOM DOES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15361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bg2"/>
                </a:solidFill>
              </a:rPr>
              <a:t>CHECKPOINT · WHAT MUST EXIST</a:t>
            </a:r>
            <a:endParaRPr lang="en-US" sz="1050" dirty="0"/>
          </a:p>
        </p:txBody>
      </p:sp>
      <p:sp>
        <p:nvSpPr>
          <p:cNvPr id="9" name="row-1"/>
          <p:cNvSpPr/>
          <p:nvPr/>
        </p:nvSpPr>
        <p:spPr>
          <a:xfrm>
            <a:off x="457200" y="1810512"/>
            <a:ext cx="11274552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1810512"/>
            <a:ext cx="3227832" cy="420624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" y="18470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00–05′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2093976"/>
            <a:ext cx="1005840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2093976"/>
            <a:ext cx="8382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18745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288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step-1"/>
          <p:cNvSpPr txBox="1"/>
          <p:nvPr/>
        </p:nvSpPr>
        <p:spPr>
          <a:xfrm>
            <a:off x="2212848" y="18105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1810512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group lead reads the case aloud, assigns roles and opens Agent Builder.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1810512"/>
            <a:ext cx="2953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Roles assigned. Agent Builder ready to use</a:t>
            </a:r>
            <a:endParaRPr lang="en-US" sz="1300" dirty="0"/>
          </a:p>
        </p:txBody>
      </p:sp>
      <p:sp>
        <p:nvSpPr>
          <p:cNvPr id="19" name="row-2"/>
          <p:cNvSpPr/>
          <p:nvPr/>
        </p:nvSpPr>
        <p:spPr>
          <a:xfrm>
            <a:off x="457200" y="2286000"/>
            <a:ext cx="11274552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2286000"/>
            <a:ext cx="3227832" cy="420624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23225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05–15′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" y="2569464"/>
            <a:ext cx="1005840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3" name="Shape 21"/>
          <p:cNvSpPr/>
          <p:nvPr/>
        </p:nvSpPr>
        <p:spPr>
          <a:xfrm>
            <a:off x="705612" y="2569464"/>
            <a:ext cx="16764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235000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82880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step-2"/>
          <p:cNvSpPr txBox="1"/>
          <p:nvPr/>
        </p:nvSpPr>
        <p:spPr>
          <a:xfrm>
            <a:off x="2212848" y="22860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hours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315968" y="2286000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Estimate time per task. Pick repetitive work the agent can help with and a use for the time saved.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2286000"/>
            <a:ext cx="2953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Current hours per PM per week and expected benefit</a:t>
            </a:r>
            <a:endParaRPr lang="en-US" sz="1300" dirty="0"/>
          </a:p>
        </p:txBody>
      </p:sp>
      <p:sp>
        <p:nvSpPr>
          <p:cNvPr id="29" name="row-3"/>
          <p:cNvSpPr/>
          <p:nvPr/>
        </p:nvSpPr>
        <p:spPr>
          <a:xfrm>
            <a:off x="457200" y="2761488"/>
            <a:ext cx="11274552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2761488"/>
            <a:ext cx="3227832" cy="420624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1792" y="27980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15–27′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" y="3044952"/>
            <a:ext cx="1005840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3" name="Shape 31"/>
          <p:cNvSpPr/>
          <p:nvPr/>
        </p:nvSpPr>
        <p:spPr>
          <a:xfrm>
            <a:off x="873252" y="3044952"/>
            <a:ext cx="201168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282549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82880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36" name="step-3"/>
          <p:cNvSpPr txBox="1"/>
          <p:nvPr/>
        </p:nvSpPr>
        <p:spPr>
          <a:xfrm>
            <a:off x="2212848" y="27614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agent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315968" y="2761488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Write instructions and what the PM still decides. Define a key failure and what counts as passing each test.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641080" y="2761488"/>
            <a:ext cx="2953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Three tests: quality, time saved, PM approval rules</a:t>
            </a:r>
            <a:endParaRPr lang="en-US" sz="1300" dirty="0"/>
          </a:p>
        </p:txBody>
      </p:sp>
      <p:sp>
        <p:nvSpPr>
          <p:cNvPr id="39" name="row-4"/>
          <p:cNvSpPr/>
          <p:nvPr/>
        </p:nvSpPr>
        <p:spPr>
          <a:xfrm>
            <a:off x="457200" y="3236976"/>
            <a:ext cx="11274552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40" name="Shape 38"/>
          <p:cNvSpPr/>
          <p:nvPr/>
        </p:nvSpPr>
        <p:spPr>
          <a:xfrm>
            <a:off x="8503920" y="3236976"/>
            <a:ext cx="3227832" cy="420624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1792" y="32735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27–42′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1792" y="3520440"/>
            <a:ext cx="1005840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3" name="Shape 41"/>
          <p:cNvSpPr/>
          <p:nvPr/>
        </p:nvSpPr>
        <p:spPr>
          <a:xfrm>
            <a:off x="1074420" y="3520440"/>
            <a:ext cx="25146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4" name="Shape 42"/>
          <p:cNvSpPr/>
          <p:nvPr/>
        </p:nvSpPr>
        <p:spPr>
          <a:xfrm>
            <a:off x="1828800" y="330098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82880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46" name="step-4"/>
          <p:cNvSpPr txBox="1"/>
          <p:nvPr/>
        </p:nvSpPr>
        <p:spPr>
          <a:xfrm>
            <a:off x="2212848" y="32369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challenge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315968" y="3236976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group lead builds the agent and runs three tests. Other members check results and suggest modifications.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641080" y="3236976"/>
            <a:ext cx="2953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Results and task time, including PM review, recorded</a:t>
            </a:r>
            <a:endParaRPr lang="en-US" sz="1300" dirty="0"/>
          </a:p>
        </p:txBody>
      </p:sp>
      <p:sp>
        <p:nvSpPr>
          <p:cNvPr id="49" name="row-5"/>
          <p:cNvSpPr/>
          <p:nvPr/>
        </p:nvSpPr>
        <p:spPr>
          <a:xfrm>
            <a:off x="457200" y="3712464"/>
            <a:ext cx="11274552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50" name="Shape 48"/>
          <p:cNvSpPr/>
          <p:nvPr/>
        </p:nvSpPr>
        <p:spPr>
          <a:xfrm>
            <a:off x="8503920" y="3712464"/>
            <a:ext cx="3227832" cy="420624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21792" y="37490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42–50′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21792" y="3995928"/>
            <a:ext cx="1005840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3" name="Shape 51"/>
          <p:cNvSpPr/>
          <p:nvPr/>
        </p:nvSpPr>
        <p:spPr>
          <a:xfrm>
            <a:off x="1325880" y="3995928"/>
            <a:ext cx="134112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4" name="Shape 52"/>
          <p:cNvSpPr/>
          <p:nvPr/>
        </p:nvSpPr>
        <p:spPr>
          <a:xfrm>
            <a:off x="1828800" y="377647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82880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56" name="step-5"/>
          <p:cNvSpPr txBox="1"/>
          <p:nvPr/>
        </p:nvSpPr>
        <p:spPr>
          <a:xfrm>
            <a:off x="2212848" y="37124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&amp; decide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4315968" y="3712464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Fix and rerun failed tests. Agree what the agent must check with the PM before acting.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8641080" y="3712464"/>
            <a:ext cx="2953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Instructions updated. Tests passed or fixes still needed.</a:t>
            </a:r>
            <a:endParaRPr lang="en-US" sz="1300" dirty="0"/>
          </a:p>
        </p:txBody>
      </p:sp>
      <p:sp>
        <p:nvSpPr>
          <p:cNvPr id="59" name="row-6"/>
          <p:cNvSpPr/>
          <p:nvPr/>
        </p:nvSpPr>
        <p:spPr>
          <a:xfrm>
            <a:off x="457200" y="4187952"/>
            <a:ext cx="11274552" cy="420624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60" name="Shape 58"/>
          <p:cNvSpPr/>
          <p:nvPr/>
        </p:nvSpPr>
        <p:spPr>
          <a:xfrm>
            <a:off x="8503920" y="4187952"/>
            <a:ext cx="3227832" cy="420624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21792" y="4224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50–60′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21792" y="4471416"/>
            <a:ext cx="1005840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3" name="Shape 61"/>
          <p:cNvSpPr/>
          <p:nvPr/>
        </p:nvSpPr>
        <p:spPr>
          <a:xfrm>
            <a:off x="1459992" y="4471416"/>
            <a:ext cx="16764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4" name="Shape 62"/>
          <p:cNvSpPr/>
          <p:nvPr/>
        </p:nvSpPr>
        <p:spPr>
          <a:xfrm>
            <a:off x="1828800" y="425196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182880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66" name="step-6"/>
          <p:cNvSpPr txBox="1"/>
          <p:nvPr/>
        </p:nvSpPr>
        <p:spPr>
          <a:xfrm>
            <a:off x="2212848" y="41879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&amp; commit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4315968" y="4187952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Choose a feedback coordinator and a task for everyone next week, once tests pass and access is ready.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8641080" y="4187952"/>
            <a:ext cx="2953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Coordinator on card. Pack submitted. 90‑second summary practised.</a:t>
            </a:r>
            <a:endParaRPr lang="en-US" sz="1300" dirty="0"/>
          </a:p>
        </p:txBody>
      </p:sp>
      <p:sp>
        <p:nvSpPr>
          <p:cNvPr id="69" name="row-debrief"/>
          <p:cNvSpPr/>
          <p:nvPr/>
        </p:nvSpPr>
        <p:spPr>
          <a:xfrm>
            <a:off x="457200" y="4663440"/>
            <a:ext cx="11274552" cy="420624"/>
          </a:xfrm>
          <a:prstGeom prst="roundRect">
            <a:avLst>
              <a:gd name="adj" fmla="val 13043"/>
            </a:avLst>
          </a:prstGeom>
          <a:ln w="12700">
            <a:solidFill>
              <a:schemeClr val="accent1"/>
            </a:solidFill>
            <a:prstDash val="dash"/>
          </a:ln>
        </p:spPr>
      </p:sp>
      <p:sp>
        <p:nvSpPr>
          <p:cNvPr id="70" name="Text 68"/>
          <p:cNvSpPr txBox="1"/>
          <p:nvPr/>
        </p:nvSpPr>
        <p:spPr>
          <a:xfrm>
            <a:off x="621792" y="46634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AFTER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1828800" y="466344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Summit Debrief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opens the wrap-up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4315968" y="4663440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Return for the proposed wrap-up. Each room shares a 90‑second summary.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8641080" y="4663440"/>
            <a:ext cx="2953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What you’ll try next week, time you could save and what to fix</a:t>
            </a:r>
            <a:endParaRPr lang="en-US" sz="1300" dirty="0"/>
          </a:p>
        </p:txBody>
      </p:sp>
      <p:sp>
        <p:nvSpPr>
          <p:cNvPr id="74" name="band-1"/>
          <p:cNvSpPr/>
          <p:nvPr/>
        </p:nvSpPr>
        <p:spPr>
          <a:xfrm>
            <a:off x="457200" y="5193792"/>
            <a:ext cx="3520440" cy="1152144"/>
          </a:xfrm>
          <a:prstGeom prst="roundRect">
            <a:avLst>
              <a:gd name="adj" fmla="val 6349"/>
            </a:avLst>
          </a:prstGeom>
          <a:solidFill>
            <a:schemeClr val="accent6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40080" y="53035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WHO IS IN EVERY ROOM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640080" y="5577840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Max. 8 people, mixed experience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Group lead: facilitates and builds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Team: checks and records results</a:t>
            </a:r>
            <a:endParaRPr lang="en-US" sz="1300" dirty="0"/>
          </a:p>
        </p:txBody>
      </p:sp>
      <p:sp>
        <p:nvSpPr>
          <p:cNvPr id="77" name="band-2"/>
          <p:cNvSpPr/>
          <p:nvPr/>
        </p:nvSpPr>
        <p:spPr>
          <a:xfrm>
            <a:off x="4160520" y="5193792"/>
            <a:ext cx="3520440" cy="1152144"/>
          </a:xfrm>
          <a:prstGeom prst="roundRect">
            <a:avLst>
              <a:gd name="adj" fmla="val 6349"/>
            </a:avLst>
          </a:prstGeom>
          <a:solidFill>
            <a:schemeClr val="accent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343400" y="53035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WHAT EVERY ROOM NEEDS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4343400" y="5577840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 space near the whole-group session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Laptop, screen, network and tool access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Case, sample data and Pilot Pack</a:t>
            </a:r>
            <a:endParaRPr lang="en-US" sz="1300" dirty="0"/>
          </a:p>
        </p:txBody>
      </p:sp>
      <p:sp>
        <p:nvSpPr>
          <p:cNvPr id="80" name="band-3"/>
          <p:cNvSpPr/>
          <p:nvPr/>
        </p:nvSpPr>
        <p:spPr>
          <a:xfrm>
            <a:off x="7863840" y="5193792"/>
            <a:ext cx="3867912" cy="1152144"/>
          </a:xfrm>
          <a:prstGeom prst="roundRect">
            <a:avLst>
              <a:gd name="adj" fmla="val 6349"/>
            </a:avLst>
          </a:prstGeom>
          <a:solidFill>
            <a:schemeClr val="accent6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8046720" y="5303520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IF SOMETHING GOES WRONG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8046720" y="5577840"/>
            <a:ext cx="3593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Running late? Keep checks and next steps.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Group lead absent? Choose a replacement.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37376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9BC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FAQ · FOR REGIONAL MODERATORS AND SITE OWNERS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5486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Frequently asked questions</a:t>
            </a:r>
            <a:endParaRPr lang="en-US" sz="2700" dirty="0"/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457200" y="10972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Left: before the summit. Right: on the day and after.</a:t>
            </a:r>
            <a:endParaRPr lang="en-US" sz="1400" dirty="0"/>
          </a:p>
        </p:txBody>
      </p:sp>
      <p:sp>
        <p:nvSpPr>
          <p:cNvPr id="5" name="faq-1"/>
          <p:cNvSpPr/>
          <p:nvPr/>
        </p:nvSpPr>
        <p:spPr>
          <a:xfrm>
            <a:off x="457200" y="1572768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66420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q-1"/>
          <p:cNvSpPr txBox="1"/>
          <p:nvPr/>
        </p:nvSpPr>
        <p:spPr>
          <a:xfrm>
            <a:off x="987552" y="165506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are people assigned to rooms?</a:t>
            </a:r>
            <a:endParaRPr lang="en-US" sz="1400" dirty="0"/>
          </a:p>
        </p:txBody>
      </p:sp>
      <p:sp>
        <p:nvSpPr>
          <p:cNvPr id="9" name="a-1"/>
          <p:cNvSpPr txBox="1"/>
          <p:nvPr/>
        </p:nvSpPr>
        <p:spPr>
          <a:xfrm>
            <a:off x="987552" y="190195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Upfront, by the regional lead, final on 26 Oct. The invitation (29 Oct) names each person’s room and case file, C1–C6.</a:t>
            </a:r>
            <a:endParaRPr lang="en-US" sz="1300" dirty="0"/>
          </a:p>
        </p:txBody>
      </p:sp>
      <p:sp>
        <p:nvSpPr>
          <p:cNvPr id="10" name="faq-2"/>
          <p:cNvSpPr/>
          <p:nvPr/>
        </p:nvSpPr>
        <p:spPr>
          <a:xfrm>
            <a:off x="457200" y="2377440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46888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q-2"/>
          <p:cNvSpPr txBox="1"/>
          <p:nvPr/>
        </p:nvSpPr>
        <p:spPr>
          <a:xfrm>
            <a:off x="987552" y="2459736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must participants do before 5 November?</a:t>
            </a:r>
            <a:endParaRPr lang="en-US" sz="1400" dirty="0"/>
          </a:p>
        </p:txBody>
      </p:sp>
      <p:sp>
        <p:nvSpPr>
          <p:cNvPr id="14" name="a-2"/>
          <p:cNvSpPr txBox="1"/>
          <p:nvPr/>
        </p:nvSpPr>
        <p:spPr>
          <a:xfrm>
            <a:off x="987552" y="2706624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Read the story and their case file, map their own week, bring one idea. Done by Tue 3 Nov; nothing to prepare on the day.</a:t>
            </a:r>
            <a:endParaRPr lang="en-US" sz="1300" dirty="0"/>
          </a:p>
        </p:txBody>
      </p:sp>
      <p:sp>
        <p:nvSpPr>
          <p:cNvPr id="15" name="faq-3"/>
          <p:cNvSpPr/>
          <p:nvPr/>
        </p:nvSpPr>
        <p:spPr>
          <a:xfrm>
            <a:off x="457200" y="3182112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27355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q-3"/>
          <p:cNvSpPr txBox="1"/>
          <p:nvPr/>
        </p:nvSpPr>
        <p:spPr>
          <a:xfrm>
            <a:off x="987552" y="3264408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 participants need AI experience?</a:t>
            </a:r>
            <a:endParaRPr lang="en-US" sz="1400" dirty="0"/>
          </a:p>
        </p:txBody>
      </p:sp>
      <p:sp>
        <p:nvSpPr>
          <p:cNvPr id="19" name="a-3"/>
          <p:cNvSpPr txBox="1"/>
          <p:nvPr/>
        </p:nvSpPr>
        <p:spPr>
          <a:xfrm>
            <a:off x="987552" y="3511296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No. The group lead builds the agent with Agent Builder in Copilot Premium. The team checks results and brings experience.</a:t>
            </a:r>
            <a:endParaRPr lang="en-US" sz="1300" dirty="0"/>
          </a:p>
        </p:txBody>
      </p:sp>
      <p:sp>
        <p:nvSpPr>
          <p:cNvPr id="20" name="faq-4"/>
          <p:cNvSpPr/>
          <p:nvPr/>
        </p:nvSpPr>
        <p:spPr>
          <a:xfrm>
            <a:off x="457200" y="3986784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407822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q-4"/>
          <p:cNvSpPr txBox="1"/>
          <p:nvPr/>
        </p:nvSpPr>
        <p:spPr>
          <a:xfrm>
            <a:off x="987552" y="4069080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if a group lead doesn’t have Agent Builder yet?</a:t>
            </a:r>
            <a:endParaRPr lang="en-US" sz="1400" dirty="0"/>
          </a:p>
        </p:txBody>
      </p:sp>
      <p:sp>
        <p:nvSpPr>
          <p:cNvPr id="24" name="a-4"/>
          <p:cNvSpPr txBox="1"/>
          <p:nvPr/>
        </p:nvSpPr>
        <p:spPr>
          <a:xfrm>
            <a:off x="987552" y="431596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Request it at </a:t>
            </a:r>
            <a:pPr indent="0" marL="0">
              <a:buNone/>
            </a:pPr>
            <a:r>
              <a:rPr lang="en-US" sz="1300" u="sng" dirty="0">
                <a:solidFill>
                  <a:schemeClr val="accent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forms.cloud.microsoft/e/KjfvXMztWp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and confirm access by 3 Nov. It must be ready to use when the room starts.</a:t>
            </a:r>
            <a:endParaRPr lang="en-US" sz="1300" dirty="0"/>
          </a:p>
        </p:txBody>
      </p:sp>
      <p:sp>
        <p:nvSpPr>
          <p:cNvPr id="25" name="faq-5"/>
          <p:cNvSpPr/>
          <p:nvPr/>
        </p:nvSpPr>
        <p:spPr>
          <a:xfrm>
            <a:off x="457200" y="4791456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4882896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4882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q-5"/>
          <p:cNvSpPr txBox="1"/>
          <p:nvPr/>
        </p:nvSpPr>
        <p:spPr>
          <a:xfrm>
            <a:off x="987552" y="487375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Who runs each room?</a:t>
            </a:r>
            <a:endParaRPr lang="en-US" sz="1400" dirty="0"/>
          </a:p>
        </p:txBody>
      </p:sp>
      <p:sp>
        <p:nvSpPr>
          <p:cNvPr id="29" name="a-5"/>
          <p:cNvSpPr txBox="1"/>
          <p:nvPr/>
        </p:nvSpPr>
        <p:spPr>
          <a:xfrm>
            <a:off x="987552" y="51206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group lead named by the regional lead, who facilitates and builds the agent (briefing 23 Oct). The team checks and records results.</a:t>
            </a:r>
            <a:endParaRPr lang="en-US" sz="1300" dirty="0"/>
          </a:p>
        </p:txBody>
      </p:sp>
      <p:sp>
        <p:nvSpPr>
          <p:cNvPr id="30" name="faq-6"/>
          <p:cNvSpPr/>
          <p:nvPr/>
        </p:nvSpPr>
        <p:spPr>
          <a:xfrm>
            <a:off x="457200" y="5596128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568756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q-6"/>
          <p:cNvSpPr txBox="1"/>
          <p:nvPr/>
        </p:nvSpPr>
        <p:spPr>
          <a:xfrm>
            <a:off x="987552" y="567842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Which cases does my region run?</a:t>
            </a:r>
            <a:endParaRPr lang="en-US" sz="1400" dirty="0"/>
          </a:p>
        </p:txBody>
      </p:sp>
      <p:sp>
        <p:nvSpPr>
          <p:cNvPr id="34" name="a-6"/>
          <p:cNvSpPr txBox="1"/>
          <p:nvPr/>
        </p:nvSpPr>
        <p:spPr>
          <a:xfrm>
            <a:off x="987552" y="592531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Every region runs C3 and C6, then adds C1, C4, C2, C5 in that order. Regions with six or more rooms run all six.</a:t>
            </a:r>
            <a:endParaRPr lang="en-US" sz="1300" dirty="0"/>
          </a:p>
        </p:txBody>
      </p:sp>
      <p:sp>
        <p:nvSpPr>
          <p:cNvPr id="35" name="faq-7"/>
          <p:cNvSpPr/>
          <p:nvPr/>
        </p:nvSpPr>
        <p:spPr>
          <a:xfrm>
            <a:off x="6208776" y="1572768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36" name="Shape 34"/>
          <p:cNvSpPr/>
          <p:nvPr/>
        </p:nvSpPr>
        <p:spPr>
          <a:xfrm>
            <a:off x="6345936" y="166420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45936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q-7"/>
          <p:cNvSpPr txBox="1"/>
          <p:nvPr/>
        </p:nvSpPr>
        <p:spPr>
          <a:xfrm>
            <a:off x="6739128" y="165506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How many people per room?</a:t>
            </a:r>
            <a:endParaRPr lang="en-US" sz="1400" dirty="0"/>
          </a:p>
        </p:txBody>
      </p:sp>
      <p:sp>
        <p:nvSpPr>
          <p:cNvPr id="39" name="a-7"/>
          <p:cNvSpPr txBox="1"/>
          <p:nvPr/>
        </p:nvSpPr>
        <p:spPr>
          <a:xfrm>
            <a:off x="6739128" y="190195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At most 8, with mixed experience. Larger groups split into two rooms on the same case.</a:t>
            </a:r>
            <a:endParaRPr lang="en-US" sz="1300" dirty="0"/>
          </a:p>
        </p:txBody>
      </p:sp>
      <p:sp>
        <p:nvSpPr>
          <p:cNvPr id="40" name="faq-8"/>
          <p:cNvSpPr/>
          <p:nvPr/>
        </p:nvSpPr>
        <p:spPr>
          <a:xfrm>
            <a:off x="6208776" y="2377440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41" name="Shape 39"/>
          <p:cNvSpPr/>
          <p:nvPr/>
        </p:nvSpPr>
        <p:spPr>
          <a:xfrm>
            <a:off x="6345936" y="246888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45936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43" name="q-8"/>
          <p:cNvSpPr txBox="1"/>
          <p:nvPr/>
        </p:nvSpPr>
        <p:spPr>
          <a:xfrm>
            <a:off x="6739128" y="2459736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What does the site provide?</a:t>
            </a:r>
            <a:endParaRPr lang="en-US" sz="1400" dirty="0"/>
          </a:p>
        </p:txBody>
      </p:sp>
      <p:sp>
        <p:nvSpPr>
          <p:cNvPr id="44" name="a-8"/>
          <p:cNvSpPr txBox="1"/>
          <p:nvPr/>
        </p:nvSpPr>
        <p:spPr>
          <a:xfrm>
            <a:off x="6739128" y="2706624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Per room: a space near the plenary, a laptop, screen, network and tool access, and the case, sample data and Pilot Pack.</a:t>
            </a:r>
            <a:endParaRPr lang="en-US" sz="1300" dirty="0"/>
          </a:p>
        </p:txBody>
      </p:sp>
      <p:sp>
        <p:nvSpPr>
          <p:cNvPr id="45" name="faq-9"/>
          <p:cNvSpPr/>
          <p:nvPr/>
        </p:nvSpPr>
        <p:spPr>
          <a:xfrm>
            <a:off x="6208776" y="3182112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46" name="Shape 44"/>
          <p:cNvSpPr/>
          <p:nvPr/>
        </p:nvSpPr>
        <p:spPr>
          <a:xfrm>
            <a:off x="6345936" y="327355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345936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48" name="q-9"/>
          <p:cNvSpPr txBox="1"/>
          <p:nvPr/>
        </p:nvSpPr>
        <p:spPr>
          <a:xfrm>
            <a:off x="6739128" y="3264408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Which data do rooms use?</a:t>
            </a:r>
            <a:endParaRPr lang="en-US" sz="1400" dirty="0"/>
          </a:p>
        </p:txBody>
      </p:sp>
      <p:sp>
        <p:nvSpPr>
          <p:cNvPr id="49" name="a-9"/>
          <p:cNvSpPr txBox="1"/>
          <p:nvPr/>
        </p:nvSpPr>
        <p:spPr>
          <a:xfrm>
            <a:off x="6739128" y="3511296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Only the KESTREL case files, which hold no real project data. No customer or confidential data goes into any AI tool.</a:t>
            </a:r>
            <a:endParaRPr lang="en-US" sz="1300" dirty="0"/>
          </a:p>
        </p:txBody>
      </p:sp>
      <p:sp>
        <p:nvSpPr>
          <p:cNvPr id="50" name="faq-10"/>
          <p:cNvSpPr/>
          <p:nvPr/>
        </p:nvSpPr>
        <p:spPr>
          <a:xfrm>
            <a:off x="6208776" y="3986784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51" name="Shape 49"/>
          <p:cNvSpPr/>
          <p:nvPr/>
        </p:nvSpPr>
        <p:spPr>
          <a:xfrm>
            <a:off x="6345936" y="407822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45936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</a:t>
            </a:r>
            <a:endParaRPr lang="en-US" sz="1200" dirty="0"/>
          </a:p>
        </p:txBody>
      </p:sp>
      <p:sp>
        <p:nvSpPr>
          <p:cNvPr id="53" name="q-10"/>
          <p:cNvSpPr txBox="1"/>
          <p:nvPr/>
        </p:nvSpPr>
        <p:spPr>
          <a:xfrm>
            <a:off x="6739128" y="4069080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What if a room runs late, or the group lead is absent?</a:t>
            </a:r>
            <a:endParaRPr lang="en-US" sz="1400" dirty="0"/>
          </a:p>
        </p:txBody>
      </p:sp>
      <p:sp>
        <p:nvSpPr>
          <p:cNvPr id="54" name="a-10"/>
          <p:cNvSpPr txBox="1"/>
          <p:nvPr/>
        </p:nvSpPr>
        <p:spPr>
          <a:xfrm>
            <a:off x="6739128" y="4315968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Running late: keep the checks and next steps, cut the rest. Group lead absent: the room chooses a replacement.</a:t>
            </a:r>
            <a:endParaRPr lang="en-US" sz="1300" dirty="0"/>
          </a:p>
        </p:txBody>
      </p:sp>
      <p:sp>
        <p:nvSpPr>
          <p:cNvPr id="55" name="faq-11"/>
          <p:cNvSpPr/>
          <p:nvPr/>
        </p:nvSpPr>
        <p:spPr>
          <a:xfrm>
            <a:off x="6208776" y="4791456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56" name="Shape 54"/>
          <p:cNvSpPr/>
          <p:nvPr/>
        </p:nvSpPr>
        <p:spPr>
          <a:xfrm>
            <a:off x="6345936" y="488289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345936" y="4882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11</a:t>
            </a:r>
            <a:endParaRPr lang="en-US" sz="1200" dirty="0"/>
          </a:p>
        </p:txBody>
      </p:sp>
      <p:sp>
        <p:nvSpPr>
          <p:cNvPr id="58" name="q-11"/>
          <p:cNvSpPr txBox="1"/>
          <p:nvPr/>
        </p:nvSpPr>
        <p:spPr>
          <a:xfrm>
            <a:off x="6739128" y="487375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What does each room deliver?</a:t>
            </a:r>
            <a:endParaRPr lang="en-US" sz="1400" dirty="0"/>
          </a:p>
        </p:txBody>
      </p:sp>
      <p:sp>
        <p:nvSpPr>
          <p:cNvPr id="59" name="a-11"/>
          <p:cNvSpPr txBox="1"/>
          <p:nvPr/>
        </p:nvSpPr>
        <p:spPr>
          <a:xfrm>
            <a:off x="6739128" y="51206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Pilot Pack with results, unfinished work and next steps, and a 90‑second summary for the Summit Debrief.</a:t>
            </a:r>
            <a:endParaRPr lang="en-US" sz="1300" dirty="0"/>
          </a:p>
        </p:txBody>
      </p:sp>
      <p:sp>
        <p:nvSpPr>
          <p:cNvPr id="60" name="faq-12"/>
          <p:cNvSpPr/>
          <p:nvPr/>
        </p:nvSpPr>
        <p:spPr>
          <a:xfrm>
            <a:off x="6208776" y="5596128"/>
            <a:ext cx="5522976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61" name="Shape 59"/>
          <p:cNvSpPr/>
          <p:nvPr/>
        </p:nvSpPr>
        <p:spPr>
          <a:xfrm>
            <a:off x="6345936" y="568756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345936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</a:t>
            </a:r>
            <a:endParaRPr lang="en-US" sz="1200" dirty="0"/>
          </a:p>
        </p:txBody>
      </p:sp>
      <p:sp>
        <p:nvSpPr>
          <p:cNvPr id="63" name="q-12"/>
          <p:cNvSpPr txBox="1"/>
          <p:nvPr/>
        </p:nvSpPr>
        <p:spPr>
          <a:xfrm>
            <a:off x="6739128" y="567842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What happens after the summit?</a:t>
            </a:r>
            <a:endParaRPr lang="en-US" sz="1400" dirty="0"/>
          </a:p>
        </p:txBody>
      </p:sp>
      <p:sp>
        <p:nvSpPr>
          <p:cNvPr id="64" name="a-12"/>
          <p:cNvSpPr txBox="1"/>
          <p:nvPr/>
        </p:nvSpPr>
        <p:spPr>
          <a:xfrm>
            <a:off x="6739128" y="592531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Everyone tries the agent the next week, once tests pass and access is ready. The feedback coordinator collects the results.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37376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A9BC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M Summit 2026 WS2">
  <a:themeElements>
    <a:clrScheme name="PM Summit 2026 WS2">
      <a:dk1>
        <a:srgbClr val="0B1A2B"/>
      </a:dk1>
      <a:lt1>
        <a:srgbClr val="FFFFFF"/>
      </a:lt1>
      <a:dk2>
        <a:srgbClr val="15283C"/>
      </a:dk2>
      <a:lt2>
        <a:srgbClr val="A9BCCD"/>
      </a:lt2>
      <a:accent1>
        <a:srgbClr val="F9B500"/>
      </a:accent1>
      <a:accent2>
        <a:srgbClr val="6CB4E4"/>
      </a:accent2>
      <a:accent3>
        <a:srgbClr val="C9D200"/>
      </a:accent3>
      <a:accent4>
        <a:srgbClr val="E8EEF3"/>
      </a:accent4>
      <a:accent5>
        <a:srgbClr val="1C6FA6"/>
      </a:accent5>
      <a:accent6>
        <a:srgbClr val="223A52"/>
      </a:accent6>
      <a:hlink>
        <a:srgbClr val="6CB4E4"/>
      </a:hlink>
      <a:folHlink>
        <a:srgbClr val="A9BCCD"/>
      </a:folHlink>
    </a:clrScheme>
    <a:fontScheme name="PM Summit 2026 WS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Role in an AI World · site owner briefing</dc:title>
  <dc:subject>PM Summit 2026 · Workstream 2</dc:subject>
  <dc:creator>PptxGenJS</dc:creator>
  <cp:lastModifiedBy>PptxGenJS</cp:lastModifiedBy>
  <cp:revision>1</cp:revision>
  <dcterms:created xsi:type="dcterms:W3CDTF">2026-10-06T22:30:11Z</dcterms:created>
  <dcterms:modified xsi:type="dcterms:W3CDTF">2026-10-06T22:30:11Z</dcterms:modified>
</cp:coreProperties>
</file>