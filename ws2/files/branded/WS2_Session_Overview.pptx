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ssion overview" id="{8b11613b-3e7d-2b56-5512-abf58d6bb63a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session left to right.
1. Introduction (10 min, plenary): why the PM role is changing, and the goal of the session: define your work around AI. Participants already know their room, so they go straight in afterwards.
2. AI use cases (2 x 15 min, plenary): two real use cases show what an agent can take over and what it took to get there.
3. Breakout (60 min, rooms C1 to C6): each room works one KESTREL case. The group lead runs the room and builds the agent in Agent Builder; the team checks and records the results. Every room leaves with a Pilot Pack and a 90-second summary.
4. Wrap-up (20 min, plenary): the Summit Debrief. Each room shares its 90-second summary: what it will try next week, the time it could save and what it still has to fix. Feedback coordinators are named.
Before: rooms are allocated in the invitation on 29 Oct and pre-work is done by 3 Nov; every group lead has Agent Builder activated. On the day, site owners provide a space per room near the plenary, a laptop, screen, network and tool access, and the case, sample data and Pilot Pack. After: every room tries its agent the week after the summit, the feedback coordinators collect the results, and the 30-day readout follows in early December.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verview">
    <p:bg>
      <p:bgPr>
        <a:solidFill>
          <a:srgbClr val="0B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M Summit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36" y="274320"/>
            <a:ext cx="749808" cy="749808"/>
          </a:xfrm>
          <a:prstGeom prst="rect">
            <a:avLst/>
          </a:prstGeom>
        </p:spPr>
      </p:pic>
      <p:pic>
        <p:nvPicPr>
          <p:cNvPr id="3" name="Image 1" descr="SPARK, AI powered PM practi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466344"/>
            <a:ext cx="1170432" cy="365760"/>
          </a:xfrm>
          <a:prstGeom prst="rect">
            <a:avLst/>
          </a:prstGeom>
        </p:spPr>
      </p:pic>
      <p:pic>
        <p:nvPicPr>
          <p:cNvPr id="4" name="Image 2" descr="NX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08" y="466344"/>
            <a:ext cx="923544" cy="36576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57200" y="64373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Workstream 2 · PM Role in an AI World · for regional moderators and site owners</a:t>
            </a:r>
            <a:endParaRPr lang="en-US" sz="10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457200" y="548640"/>
            <a:ext cx="80010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457200" y="1097280"/>
            <a:ext cx="804672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292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PM SUMMIT 2026 · THURSDAY 5 NOVEMBER · EVERY REGION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457200" y="54864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PM Role in an AI World: the session at a glance</a:t>
            </a:r>
            <a:endParaRPr lang="en-US" sz="2700" dirty="0"/>
          </a:p>
        </p:txBody>
      </p:sp>
      <p:sp>
        <p:nvSpPr>
          <p:cNvPr id="4" name="Text 1"/>
          <p:cNvSpPr/>
          <p:nvPr>
            <p:ph idx="105" type="body" hasCustomPrompt="1"/>
          </p:nvPr>
        </p:nvSpPr>
        <p:spPr>
          <a:xfrm>
            <a:off x="457200" y="109728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120 minutes, the same in every region. One outcome: an agent every room tries the week after.</a:t>
            </a:r>
            <a:endParaRPr lang="en-US" sz="1400" dirty="0"/>
          </a:p>
        </p:txBody>
      </p:sp>
      <p:sp>
        <p:nvSpPr>
          <p:cNvPr id="5" name="strip-1"/>
          <p:cNvSpPr/>
          <p:nvPr/>
        </p:nvSpPr>
        <p:spPr>
          <a:xfrm>
            <a:off x="457200" y="1572768"/>
            <a:ext cx="902970" cy="3474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572768"/>
            <a:ext cx="9029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 min</a:t>
            </a:r>
            <a:endParaRPr lang="en-US" sz="1200" dirty="0"/>
          </a:p>
        </p:txBody>
      </p:sp>
      <p:sp>
        <p:nvSpPr>
          <p:cNvPr id="7" name="strip-2"/>
          <p:cNvSpPr/>
          <p:nvPr/>
        </p:nvSpPr>
        <p:spPr>
          <a:xfrm>
            <a:off x="1396746" y="1572768"/>
            <a:ext cx="2782062" cy="3474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96746" y="1572768"/>
            <a:ext cx="27820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 × 15 min</a:t>
            </a:r>
            <a:endParaRPr lang="en-US" sz="1200" dirty="0"/>
          </a:p>
        </p:txBody>
      </p:sp>
      <p:sp>
        <p:nvSpPr>
          <p:cNvPr id="9" name="strip-3"/>
          <p:cNvSpPr/>
          <p:nvPr/>
        </p:nvSpPr>
        <p:spPr>
          <a:xfrm>
            <a:off x="4215384" y="1572768"/>
            <a:ext cx="5600700" cy="3474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15384" y="1572768"/>
            <a:ext cx="56007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60 min · breakout rooms</a:t>
            </a:r>
            <a:endParaRPr lang="en-US" sz="1200" dirty="0"/>
          </a:p>
        </p:txBody>
      </p:sp>
      <p:sp>
        <p:nvSpPr>
          <p:cNvPr id="11" name="strip-4"/>
          <p:cNvSpPr/>
          <p:nvPr/>
        </p:nvSpPr>
        <p:spPr>
          <a:xfrm>
            <a:off x="9852660" y="1572768"/>
            <a:ext cx="1842516" cy="34747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852660" y="1572768"/>
            <a:ext cx="18425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20 min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9568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0′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396746" y="19568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10′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215384" y="19568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40′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852660" y="19568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100′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000232" y="19568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120 min</a:t>
            </a:r>
            <a:endParaRPr lang="en-US" sz="1000" dirty="0"/>
          </a:p>
        </p:txBody>
      </p:sp>
      <p:sp>
        <p:nvSpPr>
          <p:cNvPr id="18" name="card-1"/>
          <p:cNvSpPr/>
          <p:nvPr/>
        </p:nvSpPr>
        <p:spPr>
          <a:xfrm>
            <a:off x="457200" y="2212848"/>
            <a:ext cx="2103120" cy="2761488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</p:sp>
      <p:sp>
        <p:nvSpPr>
          <p:cNvPr id="19" name="badge-1"/>
          <p:cNvSpPr/>
          <p:nvPr/>
        </p:nvSpPr>
        <p:spPr>
          <a:xfrm>
            <a:off x="640080" y="239572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21" name="name-1"/>
          <p:cNvSpPr txBox="1"/>
          <p:nvPr/>
        </p:nvSpPr>
        <p:spPr>
          <a:xfrm>
            <a:off x="1170432" y="239572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9077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10 min · plenary · moderator</a:t>
            </a:r>
            <a:endParaRPr lang="en-US" sz="1100" dirty="0"/>
          </a:p>
        </p:txBody>
      </p:sp>
      <p:sp>
        <p:nvSpPr>
          <p:cNvPr id="23" name="items-1"/>
          <p:cNvSpPr txBox="1"/>
          <p:nvPr/>
        </p:nvSpPr>
        <p:spPr>
          <a:xfrm>
            <a:off x="640080" y="3236976"/>
            <a:ext cx="17830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Why the PM role is changing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Goal: define your work around AI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Everyone already knows their room</a:t>
            </a:r>
            <a:endParaRPr lang="en-US" sz="1400" dirty="0"/>
          </a:p>
        </p:txBody>
      </p:sp>
      <p:sp>
        <p:nvSpPr>
          <p:cNvPr id="24" name="card-2"/>
          <p:cNvSpPr/>
          <p:nvPr/>
        </p:nvSpPr>
        <p:spPr>
          <a:xfrm>
            <a:off x="2743200" y="2212848"/>
            <a:ext cx="2423160" cy="2761488"/>
          </a:xfrm>
          <a:prstGeom prst="roundRect">
            <a:avLst>
              <a:gd name="adj" fmla="val 3019"/>
            </a:avLst>
          </a:prstGeom>
          <a:solidFill>
            <a:schemeClr val="tx2"/>
          </a:solidFill>
          <a:ln/>
        </p:spPr>
      </p:sp>
      <p:sp>
        <p:nvSpPr>
          <p:cNvPr id="25" name="badge-2"/>
          <p:cNvSpPr/>
          <p:nvPr/>
        </p:nvSpPr>
        <p:spPr>
          <a:xfrm>
            <a:off x="2926080" y="2395728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92608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27" name="name-2"/>
          <p:cNvSpPr txBox="1"/>
          <p:nvPr/>
        </p:nvSpPr>
        <p:spPr>
          <a:xfrm>
            <a:off x="3456432" y="239572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cases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2926080" y="29077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2 × 15 min · plenary · 2 speakers</a:t>
            </a:r>
            <a:endParaRPr lang="en-US" sz="1100" dirty="0"/>
          </a:p>
        </p:txBody>
      </p:sp>
      <p:sp>
        <p:nvSpPr>
          <p:cNvPr id="29" name="items-2"/>
          <p:cNvSpPr txBox="1"/>
          <p:nvPr/>
        </p:nvSpPr>
        <p:spPr>
          <a:xfrm>
            <a:off x="2926080" y="3236976"/>
            <a:ext cx="21031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Two real AI use cases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What it took and what it gave back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Sets the bar for the pilots</a:t>
            </a:r>
            <a:endParaRPr lang="en-US" sz="1400" dirty="0"/>
          </a:p>
        </p:txBody>
      </p:sp>
      <p:sp>
        <p:nvSpPr>
          <p:cNvPr id="30" name="card-3"/>
          <p:cNvSpPr/>
          <p:nvPr/>
        </p:nvSpPr>
        <p:spPr>
          <a:xfrm>
            <a:off x="5349240" y="2212848"/>
            <a:ext cx="3840480" cy="2761488"/>
          </a:xfrm>
          <a:prstGeom prst="roundRect">
            <a:avLst>
              <a:gd name="adj" fmla="val 2649"/>
            </a:avLst>
          </a:prstGeom>
          <a:solidFill>
            <a:schemeClr val="tx2"/>
          </a:solidFill>
          <a:ln/>
        </p:spPr>
      </p:sp>
      <p:sp>
        <p:nvSpPr>
          <p:cNvPr id="31" name="badge-3"/>
          <p:cNvSpPr/>
          <p:nvPr/>
        </p:nvSpPr>
        <p:spPr>
          <a:xfrm>
            <a:off x="5532120" y="239572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53212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33" name="name-3"/>
          <p:cNvSpPr txBox="1"/>
          <p:nvPr/>
        </p:nvSpPr>
        <p:spPr>
          <a:xfrm>
            <a:off x="6062472" y="239572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Pain to Pilot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5532120" y="29077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60 min · rooms C1–C6 · group lead + team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32120" y="3218688"/>
            <a:ext cx="1097280" cy="27432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532120" y="32186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Orient 5′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20840" y="3218688"/>
            <a:ext cx="1097280" cy="27432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720840" y="32186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Map the hours 10′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909560" y="3218688"/>
            <a:ext cx="1097280" cy="27432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909560" y="32186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Design 12′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532120" y="3566160"/>
            <a:ext cx="1097280" cy="27432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532120" y="3566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Build &amp; challenge 15′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20840" y="3566160"/>
            <a:ext cx="1097280" cy="27432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720840" y="3566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Fix &amp; decide 8′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909560" y="3566160"/>
            <a:ext cx="1097280" cy="27432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909560" y="3566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Commit 10′</a:t>
            </a:r>
            <a:endParaRPr lang="en-US" sz="1000" dirty="0"/>
          </a:p>
        </p:txBody>
      </p:sp>
      <p:sp>
        <p:nvSpPr>
          <p:cNvPr id="47" name="items-3"/>
          <p:cNvSpPr txBox="1"/>
          <p:nvPr/>
        </p:nvSpPr>
        <p:spPr>
          <a:xfrm>
            <a:off x="5532120" y="399592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One case, one agent, one pilot per room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Agent takes routine, PM keeps judgment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Output: Pilot Pack + 90-second summary</a:t>
            </a:r>
            <a:endParaRPr lang="en-US" sz="1400" dirty="0"/>
          </a:p>
        </p:txBody>
      </p:sp>
      <p:sp>
        <p:nvSpPr>
          <p:cNvPr id="48" name="card-4"/>
          <p:cNvSpPr/>
          <p:nvPr/>
        </p:nvSpPr>
        <p:spPr>
          <a:xfrm>
            <a:off x="9372600" y="2212848"/>
            <a:ext cx="2359152" cy="2761488"/>
          </a:xfrm>
          <a:prstGeom prst="roundRect">
            <a:avLst>
              <a:gd name="adj" fmla="val 3101"/>
            </a:avLst>
          </a:prstGeom>
          <a:solidFill>
            <a:schemeClr val="tx2"/>
          </a:solidFill>
          <a:ln/>
        </p:spPr>
      </p:sp>
      <p:sp>
        <p:nvSpPr>
          <p:cNvPr id="49" name="badge-4"/>
          <p:cNvSpPr/>
          <p:nvPr/>
        </p:nvSpPr>
        <p:spPr>
          <a:xfrm>
            <a:off x="9555480" y="2395728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55548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51" name="name-4"/>
          <p:cNvSpPr txBox="1"/>
          <p:nvPr/>
        </p:nvSpPr>
        <p:spPr>
          <a:xfrm>
            <a:off x="10085832" y="239572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700" dirty="0"/>
          </a:p>
        </p:txBody>
      </p:sp>
      <p:sp>
        <p:nvSpPr>
          <p:cNvPr id="52" name="Text 50"/>
          <p:cNvSpPr txBox="1"/>
          <p:nvPr/>
        </p:nvSpPr>
        <p:spPr>
          <a:xfrm>
            <a:off x="9555480" y="2907792"/>
            <a:ext cx="2039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20 min · plenary · debrief host</a:t>
            </a:r>
            <a:endParaRPr lang="en-US" sz="1100" dirty="0"/>
          </a:p>
        </p:txBody>
      </p:sp>
      <p:sp>
        <p:nvSpPr>
          <p:cNvPr id="53" name="items-4"/>
          <p:cNvSpPr txBox="1"/>
          <p:nvPr/>
        </p:nvSpPr>
        <p:spPr>
          <a:xfrm>
            <a:off x="9555480" y="3236976"/>
            <a:ext cx="20391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Summit Debrief: 90 s per room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What each room tries next week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Feedback coordinators named</a:t>
            </a:r>
            <a:endParaRPr lang="en-US" sz="1400" dirty="0"/>
          </a:p>
        </p:txBody>
      </p:sp>
      <p:sp>
        <p:nvSpPr>
          <p:cNvPr id="54" name="band-1"/>
          <p:cNvSpPr/>
          <p:nvPr/>
        </p:nvSpPr>
        <p:spPr>
          <a:xfrm>
            <a:off x="457200" y="5138928"/>
            <a:ext cx="3636264" cy="118872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40080" y="5248656"/>
            <a:ext cx="3270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BEFORE · BY TUE 3 NOV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640080" y="5522976"/>
            <a:ext cx="3316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Rooms allocated in the invitation (29 Oct)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Pre-work: story, case file, own week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Group lead per room with Agent Builder</a:t>
            </a:r>
            <a:endParaRPr lang="en-US" sz="1400" dirty="0"/>
          </a:p>
        </p:txBody>
      </p:sp>
      <p:sp>
        <p:nvSpPr>
          <p:cNvPr id="57" name="band-2"/>
          <p:cNvSpPr/>
          <p:nvPr/>
        </p:nvSpPr>
        <p:spPr>
          <a:xfrm>
            <a:off x="4276344" y="5138928"/>
            <a:ext cx="3636264" cy="118872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459224" y="5248656"/>
            <a:ext cx="3270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SITE OWNERS · ON THE DAY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4459224" y="5522976"/>
            <a:ext cx="3316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space per room near the plenary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Laptop, screen, network, tool access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Case, sample data and Pilot Pack</a:t>
            </a:r>
            <a:endParaRPr lang="en-US" sz="1400" dirty="0"/>
          </a:p>
        </p:txBody>
      </p:sp>
      <p:sp>
        <p:nvSpPr>
          <p:cNvPr id="60" name="band-3"/>
          <p:cNvSpPr/>
          <p:nvPr/>
        </p:nvSpPr>
        <p:spPr>
          <a:xfrm>
            <a:off x="8095488" y="5138928"/>
            <a:ext cx="3636264" cy="118872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278368" y="5248656"/>
            <a:ext cx="3270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AFTER THE SUMMIT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8278368" y="5522976"/>
            <a:ext cx="3316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Each room tries its agent the next week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Feedback coordinators collect results</a:t>
            </a:r>
            <a:endParaRPr lang="en-US" sz="14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30-day readout in early December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M Summit 2026 WS2">
  <a:themeElements>
    <a:clrScheme name="PM Summit 2026 WS2">
      <a:dk1>
        <a:srgbClr val="0B1A2B"/>
      </a:dk1>
      <a:lt1>
        <a:srgbClr val="FFFFFF"/>
      </a:lt1>
      <a:dk2>
        <a:srgbClr val="15283C"/>
      </a:dk2>
      <a:lt2>
        <a:srgbClr val="A9BCCD"/>
      </a:lt2>
      <a:accent1>
        <a:srgbClr val="F9B500"/>
      </a:accent1>
      <a:accent2>
        <a:srgbClr val="6CB4E4"/>
      </a:accent2>
      <a:accent3>
        <a:srgbClr val="C9D200"/>
      </a:accent3>
      <a:accent4>
        <a:srgbClr val="E8EEF3"/>
      </a:accent4>
      <a:accent5>
        <a:srgbClr val="1C6FA6"/>
      </a:accent5>
      <a:accent6>
        <a:srgbClr val="223A52"/>
      </a:accent6>
      <a:hlink>
        <a:srgbClr val="6CB4E4"/>
      </a:hlink>
      <a:folHlink>
        <a:srgbClr val="A9BCCD"/>
      </a:folHlink>
    </a:clrScheme>
    <a:fontScheme name="PM Summit 2026 WS2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 Role in an AI World · session overview</dc:title>
  <dc:subject>PM Summit 2026 · Workstream 2</dc:subject>
  <dc:creator>PptxGenJS</dc:creator>
  <cp:lastModifiedBy>PptxGenJS</cp:lastModifiedBy>
  <cp:revision>1</cp:revision>
  <dcterms:created xsi:type="dcterms:W3CDTF">2026-10-06T22:29:42Z</dcterms:created>
  <dcterms:modified xsi:type="dcterms:W3CDTF">2026-10-06T22:29:42Z</dcterms:modified>
</cp:coreProperties>
</file>