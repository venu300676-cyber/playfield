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ssion overview" id="{c0e3373a-33a5-0507-ddb6-d4d54d757cdc}">
          <p14:sldIdLst>
            <p14:sldId id="256"/>
          </p14:sldIdLst>
        </p14:section>
        <p14:section name="Breakout" id="{2d94b9c9-e9f2-84e0-63b6-bed9fdc51339}">
          <p14:sldIdLst>
            <p14:sldId id="257"/>
          </p14:sldIdLst>
        </p14:section>
        <p14:section name="FAQ" id="{3fa59061-9fbb-c470-51e7-8fb85a3c4dd0}">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session left to right.
1. Introduction (10 min, plenary): why the PM role is changing, and the goal of the session: define your work around AI. Participants already know their room, so they go straight in afterwards.
2. AI use cases (2 x 15 min, plenary): two real use cases show what an agent can take over and what it took to get there.
3. Breakout (60 min, rooms C1 to C6): each room works one KESTREL case, designs and tests one agent, and leaves with a Pilot Pack and a 90-second debrief card. Facilitator and Builder per room; the room readout is read aloud at minute 0.
4. Wrap-up (20 min, plenary): the Summit Debrief. Each room reads its card, everyone votes on which pilot they would implement on Monday morning, three awards, pilot owners named.
Before: rooms are allocated in the invitation on 29 Oct and pre-work is done by 3 Nov. On the day, site owners provide rooms, screens, network, the capture link with a paper fallback, and the live scoreboard. After: pilot owners by 12 Nov, 30-day readout in early 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60-minute breakout, the same in every room and every region.
Before the day: every participant already knows their room and case file (C1 to C6) from the invitation, and has done the pre-work. Nothing is allocated or prepared on 5 November. The 60-minute clock starts when the room is seated, so keep breakout rooms close to the plenary.
1. Orient, 0 to 5: the facilitator reads the 45-second cold open and the case card aloud, names Scribe, Timekeeper, Builders and Challengers. The Builder opens Agent Builder; if it fails, the room chooses paper mode now.
2. Map the hours, 5 to 15: the room times each step of the job, picks the biggest repetitive chunk, and states the baseline in hours per PM per week and what those hours would buy the project.
3. Design the agent, 15 to 27: the room writes the agent's instructions, names what the PM keeps deciding, names the one failure the agent must never cause, and writes three tests: does the job, time test, trust check.
4. Build &amp; challenge, 27 to 42: two sub-teams. Builders create the agent in Agent Builder and run the three tests on the sample data. Challengers start from the named failure and pressure-test value, data, quality, tool, accountability, adoption and metric.
5. Fix &amp; decide, 42 to 50: one new rule per failed test, one guardrail against the failure, one metric, and the level reached: Level 1 designed (required), Level 2 tested, Level 3 a working agent saved in Agent Builder.
6. Package &amp; commit, 50 to 60: pilot owner, first test and start date; rehearse the 90-second debrief card once; submit the Pilot Pack through the capture link.
Then all rooms return to the plenary for the Summit Debrief: cards in the order C2, C5, C1, C4, C6, C3, the Monday-morning vote (never for your own room) and three awards.
Site owners: one space per room close to the plenary, a shared screen, network, the capture link (MS Form) and printed backups of the case file, sample data and a blank Pilot Pack.
If something goes wrong: tool or network down for more than 3 minutes, switch to the "Be the agent" paper test, which still reaches Level 2. Behind at minute 50, cut solution detail but never the owner, first test, hours back or guardrail. Facilitator missing, the Scribe runs the room with the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twelve questions we expect most. Left column: before the summit. Right column: on the day and after.
Dates: allocation final Mon 26 Oct; invitation and pre-work sent Thu 29 Oct; facilitator and Builder briefing Fri 23 Oct; pre-work and Builder access done Tue 3 Nov; summit Thu 5 Nov; packs merged and pilot owners confirmed Thu 12 Nov; 30-day readout early December.
Agent Builder access: Builders request it through the form https://forms.cloud.microsoft/e/KjfvXMztWp and confirm they can create a test agent before 3 Nov, never in the room.
Data: rooms paste only the KESTREL case files into the tool. Real project data enters a pilot only through an approved tool and with data approval.
Rooms of five or fewer combine Facilitator with Timekeeper, and Scribe with Challenger.
The capture link is an MS Form that mirrors the Pilot Pack; the fallback is the printed Pilot Pack, photographed and submitted.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verview">
    <p:bg>
      <p:bgPr>
        <a:solidFill>
          <a:srgbClr val="0B1A2B"/>
        </a:solidFill>
      </p:bgPr>
    </p:bg>
    <p:spTree>
      <p:nvGrpSpPr>
        <p:cNvPr id="1" name=""/>
        <p:cNvGrpSpPr/>
        <p:nvPr/>
      </p:nvGrpSpPr>
      <p:grpSpPr>
        <a:xfrm>
          <a:off x="0" y="0"/>
          <a:ext cx="0" cy="0"/>
          <a:chOff x="0" y="0"/>
          <a:chExt cx="0" cy="0"/>
        </a:xfrm>
      </p:grpSpPr>
      <p:pic>
        <p:nvPicPr>
          <p:cNvPr id="2" name="Image 0" descr="PM Summit 2026">    </p:cNvPr>
          <p:cNvPicPr>
            <a:picLocks noChangeAspect="1"/>
          </p:cNvPicPr>
          <p:nvPr/>
        </p:nvPicPr>
        <p:blipFill>
          <a:blip r:embed="rId1"/>
          <a:stretch>
            <a:fillRect/>
          </a:stretch>
        </p:blipFill>
        <p:spPr>
          <a:xfrm>
            <a:off x="8631936" y="274320"/>
            <a:ext cx="749808" cy="749808"/>
          </a:xfrm>
          <a:prstGeom prst="rect">
            <a:avLst/>
          </a:prstGeom>
        </p:spPr>
      </p:pic>
      <p:pic>
        <p:nvPicPr>
          <p:cNvPr id="3" name="Image 1" descr="SPARK, AI powered PM practice">    </p:cNvPr>
          <p:cNvPicPr>
            <a:picLocks noChangeAspect="1"/>
          </p:cNvPicPr>
          <p:nvPr/>
        </p:nvPicPr>
        <p:blipFill>
          <a:blip r:embed="rId2"/>
          <a:stretch>
            <a:fillRect/>
          </a:stretch>
        </p:blipFill>
        <p:spPr>
          <a:xfrm>
            <a:off x="9509760" y="466344"/>
            <a:ext cx="1170432" cy="365760"/>
          </a:xfrm>
          <a:prstGeom prst="rect">
            <a:avLst/>
          </a:prstGeom>
        </p:spPr>
      </p:pic>
      <p:pic>
        <p:nvPicPr>
          <p:cNvPr id="4" name="Image 2" descr="NXP">    </p:cNvPr>
          <p:cNvPicPr>
            <a:picLocks noChangeAspect="1"/>
          </p:cNvPicPr>
          <p:nvPr/>
        </p:nvPicPr>
        <p:blipFill>
          <a:blip r:embed="rId3"/>
          <a:stretch>
            <a:fillRect/>
          </a:stretch>
        </p:blipFill>
        <p:spPr>
          <a:xfrm>
            <a:off x="10808208" y="466344"/>
            <a:ext cx="923544" cy="365760"/>
          </a:xfrm>
          <a:prstGeom prst="rect">
            <a:avLst/>
          </a:prstGeom>
        </p:spPr>
      </p:pic>
      <p:sp>
        <p:nvSpPr>
          <p:cNvPr id="5" name="Text 0"/>
          <p:cNvSpPr txBox="1"/>
          <p:nvPr/>
        </p:nvSpPr>
        <p:spPr>
          <a:xfrm>
            <a:off x="457200" y="6437376"/>
            <a:ext cx="8229600" cy="256032"/>
          </a:xfrm>
          <a:prstGeom prst="rect">
            <a:avLst/>
          </a:prstGeom>
          <a:noFill/>
          <a:ln/>
        </p:spPr>
        <p:txBody>
          <a:bodyPr wrap="square" lIns="0" tIns="0" rIns="0" bIns="0" rtlCol="0" anchor="ctr"/>
          <a:lstStyle/>
          <a:p>
            <a:pPr indent="0" marL="0">
              <a:buNone/>
            </a:pPr>
            <a:r>
              <a:rPr lang="en-US" sz="1000" dirty="0">
                <a:solidFill>
                  <a:schemeClr val="bg2"/>
                </a:solidFill>
              </a:rPr>
              <a:t>Workstream 2 · PM Role in an AI World · for regional moderators and site owners</a:t>
            </a:r>
            <a:endParaRPr lang="en-US" sz="1000" dirty="0"/>
          </a:p>
        </p:txBody>
      </p:sp>
      <p:sp>
        <p:nvSpPr>
          <p:cNvPr id="6" name="Text 1"/>
          <p:cNvSpPr/>
          <p:nvPr>
            <p:ph idx="104" type="title" hasCustomPrompt="1"/>
          </p:nvPr>
        </p:nvSpPr>
        <p:spPr>
          <a:xfrm>
            <a:off x="457200" y="548640"/>
            <a:ext cx="8001000" cy="548640"/>
          </a:xfrm>
          <a:prstGeom prst="rect">
            <a:avLst/>
          </a:prstGeom>
          <a:noFill/>
          <a:ln/>
        </p:spPr>
        <p:txBody>
          <a:bodyPr wrap="square" rtlCol="0"/>
          <a:lstStyle>
            <a:lvl1pPr algn="l" indent="0" marL="0">
              <a:buNone/>
              <a:defRPr lang="en-US" sz="2700" b="1" dirty="0">
                <a:solidFill>
                  <a:schemeClr val="bg1"/>
                </a:solidFill>
              </a:defRPr>
            </a:lvl1pPr>
          </a:lstStyle>
          <a:p>
            <a:pPr algn="l" indent="0" marL="0">
              <a:buNone/>
            </a:pPr>
            <a:endParaRPr lang="en-US" sz="2700" dirty="0"/>
          </a:p>
        </p:txBody>
      </p:sp>
      <p:sp>
        <p:nvSpPr>
          <p:cNvPr id="7" name="Text 1"/>
          <p:cNvSpPr/>
          <p:nvPr>
            <p:ph idx="105" type="body" hasCustomPrompt="1"/>
          </p:nvPr>
        </p:nvSpPr>
        <p:spPr>
          <a:xfrm>
            <a:off x="457200" y="1097280"/>
            <a:ext cx="8046720" cy="310896"/>
          </a:xfrm>
          <a:prstGeom prst="rect">
            <a:avLst/>
          </a:prstGeom>
          <a:noFill/>
          <a:ln/>
        </p:spPr>
        <p:txBody>
          <a:bodyPr wrap="square" rtlCol="0"/>
          <a:lstStyle>
            <a:lvl1pPr algn="l" indent="0" marL="0">
              <a:buNone/>
              <a:defRPr lang="en-US" sz="1400" dirty="0">
                <a:solidFill>
                  <a:schemeClr val="bg2"/>
                </a:solidFill>
              </a:defRPr>
            </a:lvl1pPr>
          </a:lstStyle>
          <a:p>
            <a:pPr algn="l" indent="0" marL="0">
              <a:buNone/>
            </a:pPr>
            <a:endParaRPr lang="en-US" sz="1400" dirty="0"/>
          </a:p>
        </p:txBody>
      </p:sp>
      <p:sp>
        <p:nvSpPr>
          <p:cNvPr id="25" name="Slide Number Placeholder 0"/>
          <p:cNvSpPr>
            <a:spLocks noGrp="1"/>
          </p:cNvSpPr>
          <p:nvPr>
            <p:ph type="sldNum" sz="quarter" idx="4294967295"/>
          </p:nvPr>
        </p:nvSpPr>
        <p:spPr>
          <a:xfrm>
            <a:off x="11274552" y="6437376"/>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CCD"/>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CC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forms.cloud.microsoft/e/KjfvXMztWp" TargetMode="Externa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457200" y="292608"/>
            <a:ext cx="804672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PM SUMMIT 2026 · THURSDAY 5 NOVEMBER · EVERY REGION</a:t>
            </a:r>
            <a:endParaRPr lang="en-US" sz="1100" dirty="0"/>
          </a:p>
        </p:txBody>
      </p:sp>
      <p:sp>
        <p:nvSpPr>
          <p:cNvPr id="3" name="Text 1"/>
          <p:cNvSpPr/>
          <p:nvPr>
            <p:ph idx="104" type="title" hasCustomPrompt="1"/>
          </p:nvPr>
        </p:nvSpPr>
        <p:spPr>
          <a:xfrm>
            <a:off x="457200" y="548640"/>
            <a:ext cx="8001000" cy="548640"/>
          </a:xfrm>
          <a:prstGeom prst="rect">
            <a:avLst/>
          </a:prstGeom>
          <a:noFill/>
          <a:ln/>
        </p:spPr>
        <p:txBody>
          <a:bodyPr wrap="square" lIns="0" tIns="0" rIns="0" bIns="0" rtlCol="0" anchor="ctr"/>
          <a:lstStyle/>
          <a:p>
            <a:pPr algn="l" indent="0" marL="0">
              <a:buNone/>
            </a:pPr>
            <a:r>
              <a:rPr lang="en-US" sz="2700" b="1" dirty="0">
                <a:solidFill>
                  <a:schemeClr val="bg1"/>
                </a:solidFill>
              </a:rPr>
              <a:t>PM Role in an AI World: the session at a glance</a:t>
            </a:r>
            <a:endParaRPr lang="en-US" sz="2700" dirty="0"/>
          </a:p>
        </p:txBody>
      </p:sp>
      <p:sp>
        <p:nvSpPr>
          <p:cNvPr id="4" name="Text 1"/>
          <p:cNvSpPr/>
          <p:nvPr>
            <p:ph idx="105" type="body" hasCustomPrompt="1"/>
          </p:nvPr>
        </p:nvSpPr>
        <p:spPr>
          <a:xfrm>
            <a:off x="457200" y="1097280"/>
            <a:ext cx="8046720" cy="310896"/>
          </a:xfrm>
          <a:prstGeom prst="rect">
            <a:avLst/>
          </a:prstGeom>
          <a:noFill/>
          <a:ln/>
        </p:spPr>
        <p:txBody>
          <a:bodyPr wrap="square" lIns="0" tIns="0" rIns="0" bIns="0" rtlCol="0" anchor="t"/>
          <a:lstStyle/>
          <a:p>
            <a:pPr algn="l" indent="0" marL="0">
              <a:buNone/>
            </a:pPr>
            <a:r>
              <a:rPr lang="en-US" sz="1400" dirty="0">
                <a:solidFill>
                  <a:schemeClr val="bg2"/>
                </a:solidFill>
              </a:rPr>
              <a:t>120 minutes, the same in every region. One outcome: pilots people want to run on Monday.</a:t>
            </a:r>
            <a:endParaRPr lang="en-US" sz="1400" dirty="0"/>
          </a:p>
        </p:txBody>
      </p:sp>
      <p:sp>
        <p:nvSpPr>
          <p:cNvPr id="5" name="strip-1"/>
          <p:cNvSpPr/>
          <p:nvPr/>
        </p:nvSpPr>
        <p:spPr>
          <a:xfrm>
            <a:off x="457200" y="1572768"/>
            <a:ext cx="902970" cy="347472"/>
          </a:xfrm>
          <a:prstGeom prst="rect">
            <a:avLst/>
          </a:prstGeom>
          <a:solidFill>
            <a:schemeClr val="accent2"/>
          </a:solidFill>
          <a:ln/>
        </p:spPr>
      </p:sp>
      <p:sp>
        <p:nvSpPr>
          <p:cNvPr id="6" name="Text 4"/>
          <p:cNvSpPr txBox="1"/>
          <p:nvPr/>
        </p:nvSpPr>
        <p:spPr>
          <a:xfrm>
            <a:off x="457200" y="1572768"/>
            <a:ext cx="902970" cy="347472"/>
          </a:xfrm>
          <a:prstGeom prst="rect">
            <a:avLst/>
          </a:prstGeom>
          <a:noFill/>
          <a:ln/>
        </p:spPr>
        <p:txBody>
          <a:bodyPr wrap="square" lIns="0" tIns="0" rIns="0" bIns="0" rtlCol="0" anchor="ctr"/>
          <a:lstStyle/>
          <a:p>
            <a:pPr algn="ctr" indent="0" marL="0">
              <a:buNone/>
            </a:pPr>
            <a:r>
              <a:rPr lang="en-US" sz="1200" b="1" dirty="0">
                <a:solidFill>
                  <a:schemeClr val="tx1"/>
                </a:solidFill>
              </a:rPr>
              <a:t>10 min</a:t>
            </a:r>
            <a:endParaRPr lang="en-US" sz="1200" dirty="0"/>
          </a:p>
        </p:txBody>
      </p:sp>
      <p:sp>
        <p:nvSpPr>
          <p:cNvPr id="7" name="strip-2"/>
          <p:cNvSpPr/>
          <p:nvPr/>
        </p:nvSpPr>
        <p:spPr>
          <a:xfrm>
            <a:off x="1396746" y="1572768"/>
            <a:ext cx="2782062" cy="347472"/>
          </a:xfrm>
          <a:prstGeom prst="rect">
            <a:avLst/>
          </a:prstGeom>
          <a:solidFill>
            <a:schemeClr val="accent3"/>
          </a:solidFill>
          <a:ln/>
        </p:spPr>
      </p:sp>
      <p:sp>
        <p:nvSpPr>
          <p:cNvPr id="8" name="Text 6"/>
          <p:cNvSpPr txBox="1"/>
          <p:nvPr/>
        </p:nvSpPr>
        <p:spPr>
          <a:xfrm>
            <a:off x="1396746" y="1572768"/>
            <a:ext cx="2782062" cy="347472"/>
          </a:xfrm>
          <a:prstGeom prst="rect">
            <a:avLst/>
          </a:prstGeom>
          <a:noFill/>
          <a:ln/>
        </p:spPr>
        <p:txBody>
          <a:bodyPr wrap="square" lIns="0" tIns="0" rIns="0" bIns="0" rtlCol="0" anchor="ctr"/>
          <a:lstStyle/>
          <a:p>
            <a:pPr algn="ctr" indent="0" marL="0">
              <a:buNone/>
            </a:pPr>
            <a:r>
              <a:rPr lang="en-US" sz="1200" b="1" dirty="0">
                <a:solidFill>
                  <a:schemeClr val="tx1"/>
                </a:solidFill>
              </a:rPr>
              <a:t>2 × 15 min</a:t>
            </a:r>
            <a:endParaRPr lang="en-US" sz="1200" dirty="0"/>
          </a:p>
        </p:txBody>
      </p:sp>
      <p:sp>
        <p:nvSpPr>
          <p:cNvPr id="9" name="strip-3"/>
          <p:cNvSpPr/>
          <p:nvPr/>
        </p:nvSpPr>
        <p:spPr>
          <a:xfrm>
            <a:off x="4215384" y="1572768"/>
            <a:ext cx="5600700" cy="347472"/>
          </a:xfrm>
          <a:prstGeom prst="rect">
            <a:avLst/>
          </a:prstGeom>
          <a:solidFill>
            <a:schemeClr val="accent1"/>
          </a:solidFill>
          <a:ln/>
        </p:spPr>
      </p:sp>
      <p:sp>
        <p:nvSpPr>
          <p:cNvPr id="10" name="Text 8"/>
          <p:cNvSpPr txBox="1"/>
          <p:nvPr/>
        </p:nvSpPr>
        <p:spPr>
          <a:xfrm>
            <a:off x="4215384" y="1572768"/>
            <a:ext cx="5600700" cy="347472"/>
          </a:xfrm>
          <a:prstGeom prst="rect">
            <a:avLst/>
          </a:prstGeom>
          <a:noFill/>
          <a:ln/>
        </p:spPr>
        <p:txBody>
          <a:bodyPr wrap="square" lIns="0" tIns="0" rIns="0" bIns="0" rtlCol="0" anchor="ctr"/>
          <a:lstStyle/>
          <a:p>
            <a:pPr algn="ctr" indent="0" marL="0">
              <a:buNone/>
            </a:pPr>
            <a:r>
              <a:rPr lang="en-US" sz="1200" b="1" dirty="0">
                <a:solidFill>
                  <a:schemeClr val="tx1"/>
                </a:solidFill>
              </a:rPr>
              <a:t>60 min · breakout rooms</a:t>
            </a:r>
            <a:endParaRPr lang="en-US" sz="1200" dirty="0"/>
          </a:p>
        </p:txBody>
      </p:sp>
      <p:sp>
        <p:nvSpPr>
          <p:cNvPr id="11" name="strip-4"/>
          <p:cNvSpPr/>
          <p:nvPr/>
        </p:nvSpPr>
        <p:spPr>
          <a:xfrm>
            <a:off x="9852660" y="1572768"/>
            <a:ext cx="1842516" cy="347472"/>
          </a:xfrm>
          <a:prstGeom prst="rect">
            <a:avLst/>
          </a:prstGeom>
          <a:solidFill>
            <a:schemeClr val="accent4"/>
          </a:solidFill>
          <a:ln/>
        </p:spPr>
      </p:sp>
      <p:sp>
        <p:nvSpPr>
          <p:cNvPr id="12" name="Text 10"/>
          <p:cNvSpPr txBox="1"/>
          <p:nvPr/>
        </p:nvSpPr>
        <p:spPr>
          <a:xfrm>
            <a:off x="9852660" y="1572768"/>
            <a:ext cx="1842516" cy="347472"/>
          </a:xfrm>
          <a:prstGeom prst="rect">
            <a:avLst/>
          </a:prstGeom>
          <a:noFill/>
          <a:ln/>
        </p:spPr>
        <p:txBody>
          <a:bodyPr wrap="square" lIns="0" tIns="0" rIns="0" bIns="0" rtlCol="0" anchor="ctr"/>
          <a:lstStyle/>
          <a:p>
            <a:pPr algn="ctr" indent="0" marL="0">
              <a:buNone/>
            </a:pPr>
            <a:r>
              <a:rPr lang="en-US" sz="1200" b="1" dirty="0">
                <a:solidFill>
                  <a:schemeClr val="tx1"/>
                </a:solidFill>
              </a:rPr>
              <a:t>20 min</a:t>
            </a:r>
            <a:endParaRPr lang="en-US" sz="1200" dirty="0"/>
          </a:p>
        </p:txBody>
      </p:sp>
      <p:sp>
        <p:nvSpPr>
          <p:cNvPr id="13" name="Text 11"/>
          <p:cNvSpPr txBox="1"/>
          <p:nvPr/>
        </p:nvSpPr>
        <p:spPr>
          <a:xfrm>
            <a:off x="457200" y="1956816"/>
            <a:ext cx="731520" cy="201168"/>
          </a:xfrm>
          <a:prstGeom prst="rect">
            <a:avLst/>
          </a:prstGeom>
          <a:noFill/>
          <a:ln/>
        </p:spPr>
        <p:txBody>
          <a:bodyPr wrap="square" lIns="0" tIns="0" rIns="0" bIns="0" rtlCol="0" anchor="ctr"/>
          <a:lstStyle/>
          <a:p>
            <a:pPr algn="l" indent="0" marL="0">
              <a:buNone/>
            </a:pPr>
            <a:r>
              <a:rPr lang="en-US" sz="1000" dirty="0">
                <a:solidFill>
                  <a:schemeClr val="bg2"/>
                </a:solidFill>
              </a:rPr>
              <a:t>0′</a:t>
            </a:r>
            <a:endParaRPr lang="en-US" sz="1000" dirty="0"/>
          </a:p>
        </p:txBody>
      </p:sp>
      <p:sp>
        <p:nvSpPr>
          <p:cNvPr id="14" name="Text 12"/>
          <p:cNvSpPr txBox="1"/>
          <p:nvPr/>
        </p:nvSpPr>
        <p:spPr>
          <a:xfrm>
            <a:off x="1396746" y="1956816"/>
            <a:ext cx="731520" cy="201168"/>
          </a:xfrm>
          <a:prstGeom prst="rect">
            <a:avLst/>
          </a:prstGeom>
          <a:noFill/>
          <a:ln/>
        </p:spPr>
        <p:txBody>
          <a:bodyPr wrap="square" lIns="0" tIns="0" rIns="0" bIns="0" rtlCol="0" anchor="ctr"/>
          <a:lstStyle/>
          <a:p>
            <a:pPr algn="l" indent="0" marL="0">
              <a:buNone/>
            </a:pPr>
            <a:r>
              <a:rPr lang="en-US" sz="1000" dirty="0">
                <a:solidFill>
                  <a:schemeClr val="bg2"/>
                </a:solidFill>
              </a:rPr>
              <a:t>10′</a:t>
            </a:r>
            <a:endParaRPr lang="en-US" sz="1000" dirty="0"/>
          </a:p>
        </p:txBody>
      </p:sp>
      <p:sp>
        <p:nvSpPr>
          <p:cNvPr id="15" name="Text 13"/>
          <p:cNvSpPr txBox="1"/>
          <p:nvPr/>
        </p:nvSpPr>
        <p:spPr>
          <a:xfrm>
            <a:off x="4215384" y="1956816"/>
            <a:ext cx="731520" cy="201168"/>
          </a:xfrm>
          <a:prstGeom prst="rect">
            <a:avLst/>
          </a:prstGeom>
          <a:noFill/>
          <a:ln/>
        </p:spPr>
        <p:txBody>
          <a:bodyPr wrap="square" lIns="0" tIns="0" rIns="0" bIns="0" rtlCol="0" anchor="ctr"/>
          <a:lstStyle/>
          <a:p>
            <a:pPr algn="l" indent="0" marL="0">
              <a:buNone/>
            </a:pPr>
            <a:r>
              <a:rPr lang="en-US" sz="1000" dirty="0">
                <a:solidFill>
                  <a:schemeClr val="bg2"/>
                </a:solidFill>
              </a:rPr>
              <a:t>40′</a:t>
            </a:r>
            <a:endParaRPr lang="en-US" sz="1000" dirty="0"/>
          </a:p>
        </p:txBody>
      </p:sp>
      <p:sp>
        <p:nvSpPr>
          <p:cNvPr id="16" name="Text 14"/>
          <p:cNvSpPr txBox="1"/>
          <p:nvPr/>
        </p:nvSpPr>
        <p:spPr>
          <a:xfrm>
            <a:off x="9852660" y="1956816"/>
            <a:ext cx="731520" cy="201168"/>
          </a:xfrm>
          <a:prstGeom prst="rect">
            <a:avLst/>
          </a:prstGeom>
          <a:noFill/>
          <a:ln/>
        </p:spPr>
        <p:txBody>
          <a:bodyPr wrap="square" lIns="0" tIns="0" rIns="0" bIns="0" rtlCol="0" anchor="ctr"/>
          <a:lstStyle/>
          <a:p>
            <a:pPr algn="l" indent="0" marL="0">
              <a:buNone/>
            </a:pPr>
            <a:r>
              <a:rPr lang="en-US" sz="1000" dirty="0">
                <a:solidFill>
                  <a:schemeClr val="bg2"/>
                </a:solidFill>
              </a:rPr>
              <a:t>100′</a:t>
            </a:r>
            <a:endParaRPr lang="en-US" sz="1000" dirty="0"/>
          </a:p>
        </p:txBody>
      </p:sp>
      <p:sp>
        <p:nvSpPr>
          <p:cNvPr id="17" name="Text 15"/>
          <p:cNvSpPr txBox="1"/>
          <p:nvPr/>
        </p:nvSpPr>
        <p:spPr>
          <a:xfrm>
            <a:off x="11000232" y="1956816"/>
            <a:ext cx="731520" cy="201168"/>
          </a:xfrm>
          <a:prstGeom prst="rect">
            <a:avLst/>
          </a:prstGeom>
          <a:noFill/>
          <a:ln/>
        </p:spPr>
        <p:txBody>
          <a:bodyPr wrap="square" lIns="0" tIns="0" rIns="0" bIns="0" rtlCol="0" anchor="ctr"/>
          <a:lstStyle/>
          <a:p>
            <a:pPr algn="r" indent="0" marL="0">
              <a:buNone/>
            </a:pPr>
            <a:r>
              <a:rPr lang="en-US" sz="1000" dirty="0">
                <a:solidFill>
                  <a:schemeClr val="bg2"/>
                </a:solidFill>
              </a:rPr>
              <a:t>120 min</a:t>
            </a:r>
            <a:endParaRPr lang="en-US" sz="1000" dirty="0"/>
          </a:p>
        </p:txBody>
      </p:sp>
      <p:sp>
        <p:nvSpPr>
          <p:cNvPr id="18" name="card-1"/>
          <p:cNvSpPr/>
          <p:nvPr/>
        </p:nvSpPr>
        <p:spPr>
          <a:xfrm>
            <a:off x="457200" y="2212848"/>
            <a:ext cx="2103120" cy="2761488"/>
          </a:xfrm>
          <a:prstGeom prst="roundRect">
            <a:avLst>
              <a:gd name="adj" fmla="val 3478"/>
            </a:avLst>
          </a:prstGeom>
          <a:solidFill>
            <a:schemeClr val="tx2"/>
          </a:solidFill>
          <a:ln/>
        </p:spPr>
      </p:sp>
      <p:sp>
        <p:nvSpPr>
          <p:cNvPr id="19" name="badge-1"/>
          <p:cNvSpPr/>
          <p:nvPr/>
        </p:nvSpPr>
        <p:spPr>
          <a:xfrm>
            <a:off x="640080" y="2395728"/>
            <a:ext cx="420624" cy="420624"/>
          </a:xfrm>
          <a:prstGeom prst="ellipse">
            <a:avLst/>
          </a:prstGeom>
          <a:solidFill>
            <a:schemeClr val="accent2"/>
          </a:solidFill>
          <a:ln/>
        </p:spPr>
      </p:sp>
      <p:sp>
        <p:nvSpPr>
          <p:cNvPr id="20" name="Text 18"/>
          <p:cNvSpPr txBox="1"/>
          <p:nvPr/>
        </p:nvSpPr>
        <p:spPr>
          <a:xfrm>
            <a:off x="640080" y="2395728"/>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21" name="name-1"/>
          <p:cNvSpPr txBox="1"/>
          <p:nvPr/>
        </p:nvSpPr>
        <p:spPr>
          <a:xfrm>
            <a:off x="1170432" y="2395728"/>
            <a:ext cx="1280160" cy="420624"/>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Introduction</a:t>
            </a:r>
            <a:endParaRPr lang="en-US" sz="1700" dirty="0"/>
          </a:p>
        </p:txBody>
      </p:sp>
      <p:sp>
        <p:nvSpPr>
          <p:cNvPr id="22" name="Text 20"/>
          <p:cNvSpPr txBox="1"/>
          <p:nvPr/>
        </p:nvSpPr>
        <p:spPr>
          <a:xfrm>
            <a:off x="640080" y="2907792"/>
            <a:ext cx="1783080" cy="237744"/>
          </a:xfrm>
          <a:prstGeom prst="rect">
            <a:avLst/>
          </a:prstGeom>
          <a:noFill/>
          <a:ln/>
        </p:spPr>
        <p:txBody>
          <a:bodyPr wrap="square" lIns="0" tIns="0" rIns="0" bIns="0" rtlCol="0" anchor="ctr"/>
          <a:lstStyle/>
          <a:p>
            <a:pPr indent="0" marL="0">
              <a:buNone/>
            </a:pPr>
            <a:r>
              <a:rPr lang="en-US" sz="1100" b="1" dirty="0">
                <a:solidFill>
                  <a:schemeClr val="accent2"/>
                </a:solidFill>
              </a:rPr>
              <a:t>10 min · plenary · moderator</a:t>
            </a:r>
            <a:endParaRPr lang="en-US" sz="1100" dirty="0"/>
          </a:p>
        </p:txBody>
      </p:sp>
      <p:sp>
        <p:nvSpPr>
          <p:cNvPr id="23" name="items-1"/>
          <p:cNvSpPr txBox="1"/>
          <p:nvPr/>
        </p:nvSpPr>
        <p:spPr>
          <a:xfrm>
            <a:off x="640080" y="3236976"/>
            <a:ext cx="1783080" cy="162763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Why the PM role is changing</a:t>
            </a:r>
            <a:endParaRPr lang="en-US" sz="1400" dirty="0"/>
          </a:p>
          <a:p>
            <a:pPr marL="177800" indent="-177800">
              <a:spcAft>
                <a:spcPts val="600"/>
              </a:spcAft>
              <a:buSzPct val="100000"/>
              <a:buChar char="•"/>
            </a:pPr>
            <a:r>
              <a:rPr lang="en-US" sz="1400" dirty="0">
                <a:solidFill>
                  <a:schemeClr val="bg1"/>
                </a:solidFill>
              </a:rPr>
              <a:t>Goal: define your work around AI</a:t>
            </a:r>
            <a:endParaRPr lang="en-US" sz="1400" dirty="0"/>
          </a:p>
          <a:p>
            <a:pPr marL="177800" indent="-177800">
              <a:spcAft>
                <a:spcPts val="600"/>
              </a:spcAft>
              <a:buSzPct val="100000"/>
              <a:buChar char="•"/>
            </a:pPr>
            <a:r>
              <a:rPr lang="en-US" sz="1400" dirty="0">
                <a:solidFill>
                  <a:schemeClr val="bg1"/>
                </a:solidFill>
              </a:rPr>
              <a:t>Everyone already knows their room</a:t>
            </a:r>
            <a:endParaRPr lang="en-US" sz="1400" dirty="0"/>
          </a:p>
        </p:txBody>
      </p:sp>
      <p:sp>
        <p:nvSpPr>
          <p:cNvPr id="24" name="card-2"/>
          <p:cNvSpPr/>
          <p:nvPr/>
        </p:nvSpPr>
        <p:spPr>
          <a:xfrm>
            <a:off x="2743200" y="2212848"/>
            <a:ext cx="2423160" cy="2761488"/>
          </a:xfrm>
          <a:prstGeom prst="roundRect">
            <a:avLst>
              <a:gd name="adj" fmla="val 3019"/>
            </a:avLst>
          </a:prstGeom>
          <a:solidFill>
            <a:schemeClr val="tx2"/>
          </a:solidFill>
          <a:ln/>
        </p:spPr>
      </p:sp>
      <p:sp>
        <p:nvSpPr>
          <p:cNvPr id="25" name="badge-2"/>
          <p:cNvSpPr/>
          <p:nvPr/>
        </p:nvSpPr>
        <p:spPr>
          <a:xfrm>
            <a:off x="2926080" y="2395728"/>
            <a:ext cx="420624" cy="420624"/>
          </a:xfrm>
          <a:prstGeom prst="ellipse">
            <a:avLst/>
          </a:prstGeom>
          <a:solidFill>
            <a:schemeClr val="accent3"/>
          </a:solidFill>
          <a:ln/>
        </p:spPr>
      </p:sp>
      <p:sp>
        <p:nvSpPr>
          <p:cNvPr id="26" name="Text 24"/>
          <p:cNvSpPr txBox="1"/>
          <p:nvPr/>
        </p:nvSpPr>
        <p:spPr>
          <a:xfrm>
            <a:off x="2926080" y="2395728"/>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27" name="name-2"/>
          <p:cNvSpPr txBox="1"/>
          <p:nvPr/>
        </p:nvSpPr>
        <p:spPr>
          <a:xfrm>
            <a:off x="3456432" y="2395728"/>
            <a:ext cx="1600200" cy="420624"/>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AI use cases</a:t>
            </a:r>
            <a:endParaRPr lang="en-US" sz="1700" dirty="0"/>
          </a:p>
        </p:txBody>
      </p:sp>
      <p:sp>
        <p:nvSpPr>
          <p:cNvPr id="28" name="Text 26"/>
          <p:cNvSpPr txBox="1"/>
          <p:nvPr/>
        </p:nvSpPr>
        <p:spPr>
          <a:xfrm>
            <a:off x="2926080" y="2907792"/>
            <a:ext cx="2103120" cy="237744"/>
          </a:xfrm>
          <a:prstGeom prst="rect">
            <a:avLst/>
          </a:prstGeom>
          <a:noFill/>
          <a:ln/>
        </p:spPr>
        <p:txBody>
          <a:bodyPr wrap="square" lIns="0" tIns="0" rIns="0" bIns="0" rtlCol="0" anchor="ctr"/>
          <a:lstStyle/>
          <a:p>
            <a:pPr indent="0" marL="0">
              <a:buNone/>
            </a:pPr>
            <a:r>
              <a:rPr lang="en-US" sz="1100" b="1" dirty="0">
                <a:solidFill>
                  <a:schemeClr val="accent3"/>
                </a:solidFill>
              </a:rPr>
              <a:t>2 × 15 min · plenary · 2 speakers</a:t>
            </a:r>
            <a:endParaRPr lang="en-US" sz="1100" dirty="0"/>
          </a:p>
        </p:txBody>
      </p:sp>
      <p:sp>
        <p:nvSpPr>
          <p:cNvPr id="29" name="items-2"/>
          <p:cNvSpPr txBox="1"/>
          <p:nvPr/>
        </p:nvSpPr>
        <p:spPr>
          <a:xfrm>
            <a:off x="2926080" y="3236976"/>
            <a:ext cx="2103120" cy="162763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Two real AI use cases</a:t>
            </a:r>
            <a:endParaRPr lang="en-US" sz="1400" dirty="0"/>
          </a:p>
          <a:p>
            <a:pPr marL="177800" indent="-177800">
              <a:spcAft>
                <a:spcPts val="600"/>
              </a:spcAft>
              <a:buSzPct val="100000"/>
              <a:buChar char="•"/>
            </a:pPr>
            <a:r>
              <a:rPr lang="en-US" sz="1400" dirty="0">
                <a:solidFill>
                  <a:schemeClr val="bg1"/>
                </a:solidFill>
              </a:rPr>
              <a:t>What it took and what it gave back</a:t>
            </a:r>
            <a:endParaRPr lang="en-US" sz="1400" dirty="0"/>
          </a:p>
          <a:p>
            <a:pPr marL="177800" indent="-177800">
              <a:spcAft>
                <a:spcPts val="600"/>
              </a:spcAft>
              <a:buSzPct val="100000"/>
              <a:buChar char="•"/>
            </a:pPr>
            <a:r>
              <a:rPr lang="en-US" sz="1400" dirty="0">
                <a:solidFill>
                  <a:schemeClr val="bg1"/>
                </a:solidFill>
              </a:rPr>
              <a:t>Sets the bar for the pilots</a:t>
            </a:r>
            <a:endParaRPr lang="en-US" sz="1400" dirty="0"/>
          </a:p>
        </p:txBody>
      </p:sp>
      <p:sp>
        <p:nvSpPr>
          <p:cNvPr id="30" name="card-3"/>
          <p:cNvSpPr/>
          <p:nvPr/>
        </p:nvSpPr>
        <p:spPr>
          <a:xfrm>
            <a:off x="5349240" y="2212848"/>
            <a:ext cx="3840480" cy="2761488"/>
          </a:xfrm>
          <a:prstGeom prst="roundRect">
            <a:avLst>
              <a:gd name="adj" fmla="val 2649"/>
            </a:avLst>
          </a:prstGeom>
          <a:solidFill>
            <a:schemeClr val="tx2"/>
          </a:solidFill>
          <a:ln/>
        </p:spPr>
      </p:sp>
      <p:sp>
        <p:nvSpPr>
          <p:cNvPr id="31" name="badge-3"/>
          <p:cNvSpPr/>
          <p:nvPr/>
        </p:nvSpPr>
        <p:spPr>
          <a:xfrm>
            <a:off x="5532120" y="2395728"/>
            <a:ext cx="420624" cy="420624"/>
          </a:xfrm>
          <a:prstGeom prst="ellipse">
            <a:avLst/>
          </a:prstGeom>
          <a:solidFill>
            <a:schemeClr val="accent1"/>
          </a:solidFill>
          <a:ln/>
        </p:spPr>
      </p:sp>
      <p:sp>
        <p:nvSpPr>
          <p:cNvPr id="32" name="Text 30"/>
          <p:cNvSpPr txBox="1"/>
          <p:nvPr/>
        </p:nvSpPr>
        <p:spPr>
          <a:xfrm>
            <a:off x="5532120" y="2395728"/>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33" name="name-3"/>
          <p:cNvSpPr txBox="1"/>
          <p:nvPr/>
        </p:nvSpPr>
        <p:spPr>
          <a:xfrm>
            <a:off x="6062472" y="2395728"/>
            <a:ext cx="3017520" cy="420624"/>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Breakout · Pain to Pilot</a:t>
            </a:r>
            <a:endParaRPr lang="en-US" sz="1700" dirty="0"/>
          </a:p>
        </p:txBody>
      </p:sp>
      <p:sp>
        <p:nvSpPr>
          <p:cNvPr id="34" name="Text 32"/>
          <p:cNvSpPr txBox="1"/>
          <p:nvPr/>
        </p:nvSpPr>
        <p:spPr>
          <a:xfrm>
            <a:off x="5532120" y="2907792"/>
            <a:ext cx="3520440" cy="237744"/>
          </a:xfrm>
          <a:prstGeom prst="rect">
            <a:avLst/>
          </a:prstGeom>
          <a:noFill/>
          <a:ln/>
        </p:spPr>
        <p:txBody>
          <a:bodyPr wrap="square" lIns="0" tIns="0" rIns="0" bIns="0" rtlCol="0" anchor="ctr"/>
          <a:lstStyle/>
          <a:p>
            <a:pPr indent="0" marL="0">
              <a:buNone/>
            </a:pPr>
            <a:r>
              <a:rPr lang="en-US" sz="1100" b="1" dirty="0">
                <a:solidFill>
                  <a:schemeClr val="accent1"/>
                </a:solidFill>
              </a:rPr>
              <a:t>60 min · rooms C1–C6 · facilitator + Builder</a:t>
            </a:r>
            <a:endParaRPr lang="en-US" sz="1100" dirty="0"/>
          </a:p>
        </p:txBody>
      </p:sp>
      <p:sp>
        <p:nvSpPr>
          <p:cNvPr id="35" name="Shape 33"/>
          <p:cNvSpPr/>
          <p:nvPr/>
        </p:nvSpPr>
        <p:spPr>
          <a:xfrm>
            <a:off x="5532120" y="3218688"/>
            <a:ext cx="1097280" cy="274320"/>
          </a:xfrm>
          <a:prstGeom prst="roundRect">
            <a:avLst>
              <a:gd name="adj" fmla="val 20000"/>
            </a:avLst>
          </a:prstGeom>
          <a:solidFill>
            <a:schemeClr val="accent6"/>
          </a:solidFill>
          <a:ln/>
        </p:spPr>
      </p:sp>
      <p:sp>
        <p:nvSpPr>
          <p:cNvPr id="36" name="Text 34"/>
          <p:cNvSpPr txBox="1"/>
          <p:nvPr/>
        </p:nvSpPr>
        <p:spPr>
          <a:xfrm>
            <a:off x="5532120" y="3218688"/>
            <a:ext cx="1097280" cy="274320"/>
          </a:xfrm>
          <a:prstGeom prst="rect">
            <a:avLst/>
          </a:prstGeom>
          <a:noFill/>
          <a:ln/>
        </p:spPr>
        <p:txBody>
          <a:bodyPr wrap="square" lIns="0" tIns="0" rIns="0" bIns="0" rtlCol="0" anchor="ctr"/>
          <a:lstStyle/>
          <a:p>
            <a:pPr algn="ctr" indent="0" marL="0">
              <a:buNone/>
            </a:pPr>
            <a:r>
              <a:rPr lang="en-US" sz="1000" dirty="0">
                <a:solidFill>
                  <a:schemeClr val="bg1"/>
                </a:solidFill>
              </a:rPr>
              <a:t>Orient 5′</a:t>
            </a:r>
            <a:endParaRPr lang="en-US" sz="1000" dirty="0"/>
          </a:p>
        </p:txBody>
      </p:sp>
      <p:sp>
        <p:nvSpPr>
          <p:cNvPr id="37" name="Shape 35"/>
          <p:cNvSpPr/>
          <p:nvPr/>
        </p:nvSpPr>
        <p:spPr>
          <a:xfrm>
            <a:off x="6720840" y="3218688"/>
            <a:ext cx="1097280" cy="274320"/>
          </a:xfrm>
          <a:prstGeom prst="roundRect">
            <a:avLst>
              <a:gd name="adj" fmla="val 20000"/>
            </a:avLst>
          </a:prstGeom>
          <a:solidFill>
            <a:schemeClr val="accent6"/>
          </a:solidFill>
          <a:ln/>
        </p:spPr>
      </p:sp>
      <p:sp>
        <p:nvSpPr>
          <p:cNvPr id="38" name="Text 36"/>
          <p:cNvSpPr txBox="1"/>
          <p:nvPr/>
        </p:nvSpPr>
        <p:spPr>
          <a:xfrm>
            <a:off x="6720840" y="3218688"/>
            <a:ext cx="1097280" cy="274320"/>
          </a:xfrm>
          <a:prstGeom prst="rect">
            <a:avLst/>
          </a:prstGeom>
          <a:noFill/>
          <a:ln/>
        </p:spPr>
        <p:txBody>
          <a:bodyPr wrap="square" lIns="0" tIns="0" rIns="0" bIns="0" rtlCol="0" anchor="ctr"/>
          <a:lstStyle/>
          <a:p>
            <a:pPr algn="ctr" indent="0" marL="0">
              <a:buNone/>
            </a:pPr>
            <a:r>
              <a:rPr lang="en-US" sz="1000" dirty="0">
                <a:solidFill>
                  <a:schemeClr val="bg1"/>
                </a:solidFill>
              </a:rPr>
              <a:t>Map the hours 10′</a:t>
            </a:r>
            <a:endParaRPr lang="en-US" sz="1000" dirty="0"/>
          </a:p>
        </p:txBody>
      </p:sp>
      <p:sp>
        <p:nvSpPr>
          <p:cNvPr id="39" name="Shape 37"/>
          <p:cNvSpPr/>
          <p:nvPr/>
        </p:nvSpPr>
        <p:spPr>
          <a:xfrm>
            <a:off x="7909560" y="3218688"/>
            <a:ext cx="1097280" cy="274320"/>
          </a:xfrm>
          <a:prstGeom prst="roundRect">
            <a:avLst>
              <a:gd name="adj" fmla="val 20000"/>
            </a:avLst>
          </a:prstGeom>
          <a:solidFill>
            <a:schemeClr val="accent6"/>
          </a:solidFill>
          <a:ln/>
        </p:spPr>
      </p:sp>
      <p:sp>
        <p:nvSpPr>
          <p:cNvPr id="40" name="Text 38"/>
          <p:cNvSpPr txBox="1"/>
          <p:nvPr/>
        </p:nvSpPr>
        <p:spPr>
          <a:xfrm>
            <a:off x="7909560" y="3218688"/>
            <a:ext cx="1097280" cy="274320"/>
          </a:xfrm>
          <a:prstGeom prst="rect">
            <a:avLst/>
          </a:prstGeom>
          <a:noFill/>
          <a:ln/>
        </p:spPr>
        <p:txBody>
          <a:bodyPr wrap="square" lIns="0" tIns="0" rIns="0" bIns="0" rtlCol="0" anchor="ctr"/>
          <a:lstStyle/>
          <a:p>
            <a:pPr algn="ctr" indent="0" marL="0">
              <a:buNone/>
            </a:pPr>
            <a:r>
              <a:rPr lang="en-US" sz="1000" dirty="0">
                <a:solidFill>
                  <a:schemeClr val="bg1"/>
                </a:solidFill>
              </a:rPr>
              <a:t>Design 12′</a:t>
            </a:r>
            <a:endParaRPr lang="en-US" sz="1000" dirty="0"/>
          </a:p>
        </p:txBody>
      </p:sp>
      <p:sp>
        <p:nvSpPr>
          <p:cNvPr id="41" name="Shape 39"/>
          <p:cNvSpPr/>
          <p:nvPr/>
        </p:nvSpPr>
        <p:spPr>
          <a:xfrm>
            <a:off x="5532120" y="3566160"/>
            <a:ext cx="1097280" cy="274320"/>
          </a:xfrm>
          <a:prstGeom prst="roundRect">
            <a:avLst>
              <a:gd name="adj" fmla="val 20000"/>
            </a:avLst>
          </a:prstGeom>
          <a:solidFill>
            <a:schemeClr val="accent6"/>
          </a:solidFill>
          <a:ln/>
        </p:spPr>
      </p:sp>
      <p:sp>
        <p:nvSpPr>
          <p:cNvPr id="42" name="Text 40"/>
          <p:cNvSpPr txBox="1"/>
          <p:nvPr/>
        </p:nvSpPr>
        <p:spPr>
          <a:xfrm>
            <a:off x="5532120" y="3566160"/>
            <a:ext cx="1097280" cy="274320"/>
          </a:xfrm>
          <a:prstGeom prst="rect">
            <a:avLst/>
          </a:prstGeom>
          <a:noFill/>
          <a:ln/>
        </p:spPr>
        <p:txBody>
          <a:bodyPr wrap="square" lIns="0" tIns="0" rIns="0" bIns="0" rtlCol="0" anchor="ctr"/>
          <a:lstStyle/>
          <a:p>
            <a:pPr algn="ctr" indent="0" marL="0">
              <a:buNone/>
            </a:pPr>
            <a:r>
              <a:rPr lang="en-US" sz="1000" dirty="0">
                <a:solidFill>
                  <a:schemeClr val="bg1"/>
                </a:solidFill>
              </a:rPr>
              <a:t>Build &amp; challenge 15′</a:t>
            </a:r>
            <a:endParaRPr lang="en-US" sz="1000" dirty="0"/>
          </a:p>
        </p:txBody>
      </p:sp>
      <p:sp>
        <p:nvSpPr>
          <p:cNvPr id="43" name="Shape 41"/>
          <p:cNvSpPr/>
          <p:nvPr/>
        </p:nvSpPr>
        <p:spPr>
          <a:xfrm>
            <a:off x="6720840" y="3566160"/>
            <a:ext cx="1097280" cy="274320"/>
          </a:xfrm>
          <a:prstGeom prst="roundRect">
            <a:avLst>
              <a:gd name="adj" fmla="val 20000"/>
            </a:avLst>
          </a:prstGeom>
          <a:solidFill>
            <a:schemeClr val="accent6"/>
          </a:solidFill>
          <a:ln/>
        </p:spPr>
      </p:sp>
      <p:sp>
        <p:nvSpPr>
          <p:cNvPr id="44" name="Text 42"/>
          <p:cNvSpPr txBox="1"/>
          <p:nvPr/>
        </p:nvSpPr>
        <p:spPr>
          <a:xfrm>
            <a:off x="6720840" y="3566160"/>
            <a:ext cx="1097280" cy="274320"/>
          </a:xfrm>
          <a:prstGeom prst="rect">
            <a:avLst/>
          </a:prstGeom>
          <a:noFill/>
          <a:ln/>
        </p:spPr>
        <p:txBody>
          <a:bodyPr wrap="square" lIns="0" tIns="0" rIns="0" bIns="0" rtlCol="0" anchor="ctr"/>
          <a:lstStyle/>
          <a:p>
            <a:pPr algn="ctr" indent="0" marL="0">
              <a:buNone/>
            </a:pPr>
            <a:r>
              <a:rPr lang="en-US" sz="1000" dirty="0">
                <a:solidFill>
                  <a:schemeClr val="bg1"/>
                </a:solidFill>
              </a:rPr>
              <a:t>Fix &amp; decide 8′</a:t>
            </a:r>
            <a:endParaRPr lang="en-US" sz="1000" dirty="0"/>
          </a:p>
        </p:txBody>
      </p:sp>
      <p:sp>
        <p:nvSpPr>
          <p:cNvPr id="45" name="Shape 43"/>
          <p:cNvSpPr/>
          <p:nvPr/>
        </p:nvSpPr>
        <p:spPr>
          <a:xfrm>
            <a:off x="7909560" y="3566160"/>
            <a:ext cx="1097280" cy="274320"/>
          </a:xfrm>
          <a:prstGeom prst="roundRect">
            <a:avLst>
              <a:gd name="adj" fmla="val 20000"/>
            </a:avLst>
          </a:prstGeom>
          <a:solidFill>
            <a:schemeClr val="accent6"/>
          </a:solidFill>
          <a:ln/>
        </p:spPr>
      </p:sp>
      <p:sp>
        <p:nvSpPr>
          <p:cNvPr id="46" name="Text 44"/>
          <p:cNvSpPr txBox="1"/>
          <p:nvPr/>
        </p:nvSpPr>
        <p:spPr>
          <a:xfrm>
            <a:off x="7909560" y="3566160"/>
            <a:ext cx="1097280" cy="274320"/>
          </a:xfrm>
          <a:prstGeom prst="rect">
            <a:avLst/>
          </a:prstGeom>
          <a:noFill/>
          <a:ln/>
        </p:spPr>
        <p:txBody>
          <a:bodyPr wrap="square" lIns="0" tIns="0" rIns="0" bIns="0" rtlCol="0" anchor="ctr"/>
          <a:lstStyle/>
          <a:p>
            <a:pPr algn="ctr" indent="0" marL="0">
              <a:buNone/>
            </a:pPr>
            <a:r>
              <a:rPr lang="en-US" sz="1000" dirty="0">
                <a:solidFill>
                  <a:schemeClr val="bg1"/>
                </a:solidFill>
              </a:rPr>
              <a:t>Commit 10′</a:t>
            </a:r>
            <a:endParaRPr lang="en-US" sz="1000" dirty="0"/>
          </a:p>
        </p:txBody>
      </p:sp>
      <p:sp>
        <p:nvSpPr>
          <p:cNvPr id="47" name="items-3"/>
          <p:cNvSpPr txBox="1"/>
          <p:nvPr/>
        </p:nvSpPr>
        <p:spPr>
          <a:xfrm>
            <a:off x="5532120" y="3995928"/>
            <a:ext cx="3520440" cy="868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One case, one agent, one pilot per room</a:t>
            </a:r>
            <a:endParaRPr lang="en-US" sz="1400" dirty="0"/>
          </a:p>
          <a:p>
            <a:pPr marL="177800" indent="-177800">
              <a:spcAft>
                <a:spcPts val="600"/>
              </a:spcAft>
              <a:buSzPct val="100000"/>
              <a:buChar char="•"/>
            </a:pPr>
            <a:r>
              <a:rPr lang="en-US" sz="1400" dirty="0">
                <a:solidFill>
                  <a:schemeClr val="bg1"/>
                </a:solidFill>
              </a:rPr>
              <a:t>Agent takes routine, PM keeps judgment</a:t>
            </a:r>
            <a:endParaRPr lang="en-US" sz="1400" dirty="0"/>
          </a:p>
          <a:p>
            <a:pPr marL="177800" indent="-177800">
              <a:spcAft>
                <a:spcPts val="600"/>
              </a:spcAft>
              <a:buSzPct val="100000"/>
              <a:buChar char="•"/>
            </a:pPr>
            <a:r>
              <a:rPr lang="en-US" sz="1400" dirty="0">
                <a:solidFill>
                  <a:schemeClr val="bg1"/>
                </a:solidFill>
              </a:rPr>
              <a:t>Output: Pilot Pack + 90-second debrief card</a:t>
            </a:r>
            <a:endParaRPr lang="en-US" sz="1400" dirty="0"/>
          </a:p>
        </p:txBody>
      </p:sp>
      <p:sp>
        <p:nvSpPr>
          <p:cNvPr id="48" name="card-4"/>
          <p:cNvSpPr/>
          <p:nvPr/>
        </p:nvSpPr>
        <p:spPr>
          <a:xfrm>
            <a:off x="9372600" y="2212848"/>
            <a:ext cx="2359152" cy="2761488"/>
          </a:xfrm>
          <a:prstGeom prst="roundRect">
            <a:avLst>
              <a:gd name="adj" fmla="val 3101"/>
            </a:avLst>
          </a:prstGeom>
          <a:solidFill>
            <a:schemeClr val="tx2"/>
          </a:solidFill>
          <a:ln/>
        </p:spPr>
      </p:sp>
      <p:sp>
        <p:nvSpPr>
          <p:cNvPr id="49" name="badge-4"/>
          <p:cNvSpPr/>
          <p:nvPr/>
        </p:nvSpPr>
        <p:spPr>
          <a:xfrm>
            <a:off x="9555480" y="2395728"/>
            <a:ext cx="420624" cy="420624"/>
          </a:xfrm>
          <a:prstGeom prst="ellipse">
            <a:avLst/>
          </a:prstGeom>
          <a:solidFill>
            <a:schemeClr val="accent4"/>
          </a:solidFill>
          <a:ln/>
        </p:spPr>
      </p:sp>
      <p:sp>
        <p:nvSpPr>
          <p:cNvPr id="50" name="Text 48"/>
          <p:cNvSpPr txBox="1"/>
          <p:nvPr/>
        </p:nvSpPr>
        <p:spPr>
          <a:xfrm>
            <a:off x="9555480" y="2395728"/>
            <a:ext cx="420624" cy="420624"/>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51" name="name-4"/>
          <p:cNvSpPr txBox="1"/>
          <p:nvPr/>
        </p:nvSpPr>
        <p:spPr>
          <a:xfrm>
            <a:off x="10085832" y="2395728"/>
            <a:ext cx="1536192" cy="420624"/>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Wrap-up</a:t>
            </a:r>
            <a:endParaRPr lang="en-US" sz="1700" dirty="0"/>
          </a:p>
        </p:txBody>
      </p:sp>
      <p:sp>
        <p:nvSpPr>
          <p:cNvPr id="52" name="Text 50"/>
          <p:cNvSpPr txBox="1"/>
          <p:nvPr/>
        </p:nvSpPr>
        <p:spPr>
          <a:xfrm>
            <a:off x="9555480" y="2907792"/>
            <a:ext cx="2039112" cy="237744"/>
          </a:xfrm>
          <a:prstGeom prst="rect">
            <a:avLst/>
          </a:prstGeom>
          <a:noFill/>
          <a:ln/>
        </p:spPr>
        <p:txBody>
          <a:bodyPr wrap="square" lIns="0" tIns="0" rIns="0" bIns="0" rtlCol="0" anchor="ctr"/>
          <a:lstStyle/>
          <a:p>
            <a:pPr indent="0" marL="0">
              <a:buNone/>
            </a:pPr>
            <a:r>
              <a:rPr lang="en-US" sz="1100" b="1" dirty="0">
                <a:solidFill>
                  <a:schemeClr val="accent4"/>
                </a:solidFill>
              </a:rPr>
              <a:t>20 min · plenary · debrief host</a:t>
            </a:r>
            <a:endParaRPr lang="en-US" sz="1100" dirty="0"/>
          </a:p>
        </p:txBody>
      </p:sp>
      <p:sp>
        <p:nvSpPr>
          <p:cNvPr id="53" name="items-4"/>
          <p:cNvSpPr txBox="1"/>
          <p:nvPr/>
        </p:nvSpPr>
        <p:spPr>
          <a:xfrm>
            <a:off x="9555480" y="3236976"/>
            <a:ext cx="2039112" cy="162763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Summit Debrief, 90 s per room</a:t>
            </a:r>
            <a:endParaRPr lang="en-US" sz="1400" dirty="0"/>
          </a:p>
          <a:p>
            <a:pPr marL="177800" indent="-177800">
              <a:spcAft>
                <a:spcPts val="600"/>
              </a:spcAft>
              <a:buSzPct val="100000"/>
              <a:buChar char="•"/>
            </a:pPr>
            <a:r>
              <a:rPr lang="en-US" sz="1400" dirty="0">
                <a:solidFill>
                  <a:schemeClr val="bg1"/>
                </a:solidFill>
              </a:rPr>
              <a:t>Vote: which pilot on Monday morning?</a:t>
            </a:r>
            <a:endParaRPr lang="en-US" sz="1400" dirty="0"/>
          </a:p>
          <a:p>
            <a:pPr marL="177800" indent="-177800">
              <a:spcAft>
                <a:spcPts val="600"/>
              </a:spcAft>
              <a:buSzPct val="100000"/>
              <a:buChar char="•"/>
            </a:pPr>
            <a:r>
              <a:rPr lang="en-US" sz="1400" dirty="0">
                <a:solidFill>
                  <a:schemeClr val="bg1"/>
                </a:solidFill>
              </a:rPr>
              <a:t>Three awards, pilot owners named</a:t>
            </a:r>
            <a:endParaRPr lang="en-US" sz="1400" dirty="0"/>
          </a:p>
        </p:txBody>
      </p:sp>
      <p:sp>
        <p:nvSpPr>
          <p:cNvPr id="54" name="band-1"/>
          <p:cNvSpPr/>
          <p:nvPr/>
        </p:nvSpPr>
        <p:spPr>
          <a:xfrm>
            <a:off x="457200" y="5138928"/>
            <a:ext cx="3636264" cy="1188720"/>
          </a:xfrm>
          <a:prstGeom prst="roundRect">
            <a:avLst>
              <a:gd name="adj" fmla="val 6154"/>
            </a:avLst>
          </a:prstGeom>
          <a:solidFill>
            <a:schemeClr val="accent6"/>
          </a:solidFill>
          <a:ln/>
        </p:spPr>
      </p:sp>
      <p:sp>
        <p:nvSpPr>
          <p:cNvPr id="55" name="Text 53"/>
          <p:cNvSpPr txBox="1"/>
          <p:nvPr/>
        </p:nvSpPr>
        <p:spPr>
          <a:xfrm>
            <a:off x="640080" y="5248656"/>
            <a:ext cx="3270504" cy="219456"/>
          </a:xfrm>
          <a:prstGeom prst="rect">
            <a:avLst/>
          </a:prstGeom>
          <a:noFill/>
          <a:ln/>
        </p:spPr>
        <p:txBody>
          <a:bodyPr wrap="square" lIns="0" tIns="0" rIns="0" bIns="0" rtlCol="0" anchor="ctr"/>
          <a:lstStyle/>
          <a:p>
            <a:pPr indent="0" marL="0">
              <a:buNone/>
            </a:pPr>
            <a:r>
              <a:rPr lang="en-US" sz="1100" b="1" spc="100" kern="0" dirty="0">
                <a:solidFill>
                  <a:schemeClr val="accent1"/>
                </a:solidFill>
              </a:rPr>
              <a:t>BEFORE · BY TUE 3 NOV</a:t>
            </a:r>
            <a:endParaRPr lang="en-US" sz="1100" dirty="0"/>
          </a:p>
        </p:txBody>
      </p:sp>
      <p:sp>
        <p:nvSpPr>
          <p:cNvPr id="56" name="Text 54"/>
          <p:cNvSpPr txBox="1"/>
          <p:nvPr/>
        </p:nvSpPr>
        <p:spPr>
          <a:xfrm>
            <a:off x="640080" y="5522976"/>
            <a:ext cx="3316224" cy="73152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chemeClr val="bg1"/>
                </a:solidFill>
              </a:rPr>
              <a:t>Rooms allocated in the invitation (29 Oct)</a:t>
            </a:r>
            <a:endParaRPr lang="en-US" sz="1400" dirty="0"/>
          </a:p>
          <a:p>
            <a:pPr marL="177800" indent="-177800">
              <a:spcAft>
                <a:spcPts val="200"/>
              </a:spcAft>
              <a:buSzPct val="100000"/>
              <a:buChar char="•"/>
            </a:pPr>
            <a:r>
              <a:rPr lang="en-US" sz="1400" dirty="0">
                <a:solidFill>
                  <a:schemeClr val="bg1"/>
                </a:solidFill>
              </a:rPr>
              <a:t>Pre-work: story, case file, own week</a:t>
            </a:r>
            <a:endParaRPr lang="en-US" sz="1400" dirty="0"/>
          </a:p>
          <a:p>
            <a:pPr marL="177800" indent="-177800">
              <a:spcAft>
                <a:spcPts val="200"/>
              </a:spcAft>
              <a:buSzPct val="100000"/>
              <a:buChar char="•"/>
            </a:pPr>
            <a:r>
              <a:rPr lang="en-US" sz="1400" dirty="0">
                <a:solidFill>
                  <a:schemeClr val="bg1"/>
                </a:solidFill>
              </a:rPr>
              <a:t>One Builder per room with Agent Builder</a:t>
            </a:r>
            <a:endParaRPr lang="en-US" sz="1400" dirty="0"/>
          </a:p>
        </p:txBody>
      </p:sp>
      <p:sp>
        <p:nvSpPr>
          <p:cNvPr id="57" name="band-2"/>
          <p:cNvSpPr/>
          <p:nvPr/>
        </p:nvSpPr>
        <p:spPr>
          <a:xfrm>
            <a:off x="4276344" y="5138928"/>
            <a:ext cx="3636264" cy="1188720"/>
          </a:xfrm>
          <a:prstGeom prst="roundRect">
            <a:avLst>
              <a:gd name="adj" fmla="val 6154"/>
            </a:avLst>
          </a:prstGeom>
          <a:solidFill>
            <a:schemeClr val="accent6"/>
          </a:solidFill>
          <a:ln/>
        </p:spPr>
      </p:sp>
      <p:sp>
        <p:nvSpPr>
          <p:cNvPr id="58" name="Text 56"/>
          <p:cNvSpPr txBox="1"/>
          <p:nvPr/>
        </p:nvSpPr>
        <p:spPr>
          <a:xfrm>
            <a:off x="4459224" y="5248656"/>
            <a:ext cx="3270504" cy="219456"/>
          </a:xfrm>
          <a:prstGeom prst="rect">
            <a:avLst/>
          </a:prstGeom>
          <a:noFill/>
          <a:ln/>
        </p:spPr>
        <p:txBody>
          <a:bodyPr wrap="square" lIns="0" tIns="0" rIns="0" bIns="0" rtlCol="0" anchor="ctr"/>
          <a:lstStyle/>
          <a:p>
            <a:pPr indent="0" marL="0">
              <a:buNone/>
            </a:pPr>
            <a:r>
              <a:rPr lang="en-US" sz="1100" b="1" spc="100" kern="0" dirty="0">
                <a:solidFill>
                  <a:schemeClr val="accent2"/>
                </a:solidFill>
              </a:rPr>
              <a:t>SITE OWNERS · ON THE DAY</a:t>
            </a:r>
            <a:endParaRPr lang="en-US" sz="1100" dirty="0"/>
          </a:p>
        </p:txBody>
      </p:sp>
      <p:sp>
        <p:nvSpPr>
          <p:cNvPr id="59" name="Text 57"/>
          <p:cNvSpPr txBox="1"/>
          <p:nvPr/>
        </p:nvSpPr>
        <p:spPr>
          <a:xfrm>
            <a:off x="4459224" y="5522976"/>
            <a:ext cx="3316224" cy="73152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chemeClr val="bg1"/>
                </a:solidFill>
              </a:rPr>
              <a:t>A room, screen and network per breakout</a:t>
            </a:r>
            <a:endParaRPr lang="en-US" sz="1400" dirty="0"/>
          </a:p>
          <a:p>
            <a:pPr marL="177800" indent="-177800">
              <a:spcAft>
                <a:spcPts val="200"/>
              </a:spcAft>
              <a:buSzPct val="100000"/>
              <a:buChar char="•"/>
            </a:pPr>
            <a:r>
              <a:rPr lang="en-US" sz="1400" dirty="0">
                <a:solidFill>
                  <a:schemeClr val="bg1"/>
                </a:solidFill>
              </a:rPr>
              <a:t>Capture link plus paper fallback</a:t>
            </a:r>
            <a:endParaRPr lang="en-US" sz="1400" dirty="0"/>
          </a:p>
          <a:p>
            <a:pPr marL="177800" indent="-177800">
              <a:spcAft>
                <a:spcPts val="200"/>
              </a:spcAft>
              <a:buSzPct val="100000"/>
              <a:buChar char="•"/>
            </a:pPr>
            <a:r>
              <a:rPr lang="en-US" sz="1400" dirty="0">
                <a:solidFill>
                  <a:schemeClr val="bg1"/>
                </a:solidFill>
              </a:rPr>
              <a:t>Live scoreboard on the plenary screen</a:t>
            </a:r>
            <a:endParaRPr lang="en-US" sz="1400" dirty="0"/>
          </a:p>
        </p:txBody>
      </p:sp>
      <p:sp>
        <p:nvSpPr>
          <p:cNvPr id="60" name="band-3"/>
          <p:cNvSpPr/>
          <p:nvPr/>
        </p:nvSpPr>
        <p:spPr>
          <a:xfrm>
            <a:off x="8095488" y="5138928"/>
            <a:ext cx="3636264" cy="1188720"/>
          </a:xfrm>
          <a:prstGeom prst="roundRect">
            <a:avLst>
              <a:gd name="adj" fmla="val 6154"/>
            </a:avLst>
          </a:prstGeom>
          <a:solidFill>
            <a:schemeClr val="accent6"/>
          </a:solidFill>
          <a:ln/>
        </p:spPr>
      </p:sp>
      <p:sp>
        <p:nvSpPr>
          <p:cNvPr id="61" name="Text 59"/>
          <p:cNvSpPr txBox="1"/>
          <p:nvPr/>
        </p:nvSpPr>
        <p:spPr>
          <a:xfrm>
            <a:off x="8278368" y="5248656"/>
            <a:ext cx="3270504" cy="219456"/>
          </a:xfrm>
          <a:prstGeom prst="rect">
            <a:avLst/>
          </a:prstGeom>
          <a:noFill/>
          <a:ln/>
        </p:spPr>
        <p:txBody>
          <a:bodyPr wrap="square" lIns="0" tIns="0" rIns="0" bIns="0" rtlCol="0" anchor="ctr"/>
          <a:lstStyle/>
          <a:p>
            <a:pPr indent="0" marL="0">
              <a:buNone/>
            </a:pPr>
            <a:r>
              <a:rPr lang="en-US" sz="1100" b="1" spc="100" kern="0" dirty="0">
                <a:solidFill>
                  <a:schemeClr val="accent3"/>
                </a:solidFill>
              </a:rPr>
              <a:t>AFTER THE SUMMIT</a:t>
            </a:r>
            <a:endParaRPr lang="en-US" sz="1100" dirty="0"/>
          </a:p>
        </p:txBody>
      </p:sp>
      <p:sp>
        <p:nvSpPr>
          <p:cNvPr id="62" name="Text 60"/>
          <p:cNvSpPr txBox="1"/>
          <p:nvPr/>
        </p:nvSpPr>
        <p:spPr>
          <a:xfrm>
            <a:off x="8278368" y="5522976"/>
            <a:ext cx="3316224" cy="73152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chemeClr val="bg1"/>
                </a:solidFill>
              </a:rPr>
              <a:t>Pilot owners confirmed by 12 Nov</a:t>
            </a:r>
            <a:endParaRPr lang="en-US" sz="1400" dirty="0"/>
          </a:p>
          <a:p>
            <a:pPr marL="177800" indent="-177800">
              <a:spcAft>
                <a:spcPts val="200"/>
              </a:spcAft>
              <a:buSzPct val="100000"/>
              <a:buChar char="•"/>
            </a:pPr>
            <a:r>
              <a:rPr lang="en-US" sz="1400" dirty="0">
                <a:solidFill>
                  <a:schemeClr val="bg1"/>
                </a:solidFill>
              </a:rPr>
              <a:t>30-day pilot readout in early December</a:t>
            </a:r>
            <a:endParaRPr lang="en-US" sz="1400" dirty="0"/>
          </a:p>
        </p:txBody>
      </p:sp>
      <p:sp>
        <p:nvSpPr>
          <p:cNvPr id="25" name="Slide Number Placeholder 0"/>
          <p:cNvSpPr>
            <a:spLocks noGrp="1"/>
          </p:cNvSpPr>
          <p:nvPr>
            <p:ph type="sldNum" sz="quarter" idx="4294967295"/>
          </p:nvPr>
        </p:nvSpPr>
        <p:spPr>
          <a:xfrm>
            <a:off x="11274552" y="6437376"/>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CCD"/>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457200" y="292608"/>
            <a:ext cx="804672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BREAKOUT · 60 MINUTES · THE SAME IN EVERY ROOM AND REGION</a:t>
            </a:r>
            <a:endParaRPr lang="en-US" sz="1100" dirty="0"/>
          </a:p>
        </p:txBody>
      </p:sp>
      <p:sp>
        <p:nvSpPr>
          <p:cNvPr id="3" name="Text 1"/>
          <p:cNvSpPr/>
          <p:nvPr>
            <p:ph idx="104" type="title" hasCustomPrompt="1"/>
          </p:nvPr>
        </p:nvSpPr>
        <p:spPr>
          <a:xfrm>
            <a:off x="457200" y="548640"/>
            <a:ext cx="8001000" cy="548640"/>
          </a:xfrm>
          <a:prstGeom prst="rect">
            <a:avLst/>
          </a:prstGeom>
          <a:noFill/>
          <a:ln/>
        </p:spPr>
        <p:txBody>
          <a:bodyPr wrap="square" lIns="0" tIns="0" rIns="0" bIns="0" rtlCol="0" anchor="ctr"/>
          <a:lstStyle/>
          <a:p>
            <a:pPr algn="l" indent="0" marL="0">
              <a:buNone/>
            </a:pPr>
            <a:r>
              <a:rPr lang="en-US" sz="2700" b="1" dirty="0">
                <a:solidFill>
                  <a:schemeClr val="bg1"/>
                </a:solidFill>
              </a:rPr>
              <a:t>How the breakout unfolds</a:t>
            </a:r>
            <a:endParaRPr lang="en-US" sz="2700" dirty="0"/>
          </a:p>
        </p:txBody>
      </p:sp>
      <p:sp>
        <p:nvSpPr>
          <p:cNvPr id="4" name="Text 1"/>
          <p:cNvSpPr/>
          <p:nvPr>
            <p:ph idx="105" type="body" hasCustomPrompt="1"/>
          </p:nvPr>
        </p:nvSpPr>
        <p:spPr>
          <a:xfrm>
            <a:off x="457200" y="1097280"/>
            <a:ext cx="8046720" cy="310896"/>
          </a:xfrm>
          <a:prstGeom prst="rect">
            <a:avLst/>
          </a:prstGeom>
          <a:noFill/>
          <a:ln/>
        </p:spPr>
        <p:txBody>
          <a:bodyPr wrap="square" lIns="0" tIns="0" rIns="0" bIns="0" rtlCol="0" anchor="t"/>
          <a:lstStyle/>
          <a:p>
            <a:pPr algn="l" indent="0" marL="0">
              <a:buNone/>
            </a:pPr>
            <a:r>
              <a:rPr lang="en-US" sz="1400" dirty="0">
                <a:solidFill>
                  <a:schemeClr val="bg2"/>
                </a:solidFill>
              </a:rPr>
              <a:t>One case per room, six steps, a checkpoint after each. Every room leaves with a Pilot Pack.</a:t>
            </a:r>
            <a:endParaRPr lang="en-US" sz="1400" dirty="0"/>
          </a:p>
        </p:txBody>
      </p:sp>
      <p:sp>
        <p:nvSpPr>
          <p:cNvPr id="5" name="Text 3"/>
          <p:cNvSpPr txBox="1"/>
          <p:nvPr/>
        </p:nvSpPr>
        <p:spPr>
          <a:xfrm>
            <a:off x="621792" y="1536192"/>
            <a:ext cx="3017520" cy="219456"/>
          </a:xfrm>
          <a:prstGeom prst="rect">
            <a:avLst/>
          </a:prstGeom>
          <a:noFill/>
          <a:ln/>
        </p:spPr>
        <p:txBody>
          <a:bodyPr wrap="square" lIns="0" tIns="0" rIns="0" bIns="0" rtlCol="0" anchor="ctr"/>
          <a:lstStyle/>
          <a:p>
            <a:pPr indent="0" marL="0">
              <a:buNone/>
            </a:pPr>
            <a:r>
              <a:rPr lang="en-US" sz="1050" b="1" spc="100" kern="0" dirty="0">
                <a:solidFill>
                  <a:schemeClr val="bg2"/>
                </a:solidFill>
              </a:rPr>
              <a:t>MINUTE</a:t>
            </a:r>
            <a:endParaRPr lang="en-US" sz="1050" dirty="0"/>
          </a:p>
        </p:txBody>
      </p:sp>
      <p:sp>
        <p:nvSpPr>
          <p:cNvPr id="6" name="Text 4"/>
          <p:cNvSpPr txBox="1"/>
          <p:nvPr/>
        </p:nvSpPr>
        <p:spPr>
          <a:xfrm>
            <a:off x="1828800" y="1536192"/>
            <a:ext cx="3017520" cy="219456"/>
          </a:xfrm>
          <a:prstGeom prst="rect">
            <a:avLst/>
          </a:prstGeom>
          <a:noFill/>
          <a:ln/>
        </p:spPr>
        <p:txBody>
          <a:bodyPr wrap="square" lIns="0" tIns="0" rIns="0" bIns="0" rtlCol="0" anchor="ctr"/>
          <a:lstStyle/>
          <a:p>
            <a:pPr indent="0" marL="0">
              <a:buNone/>
            </a:pPr>
            <a:r>
              <a:rPr lang="en-US" sz="1050" b="1" spc="100" kern="0" dirty="0">
                <a:solidFill>
                  <a:schemeClr val="bg2"/>
                </a:solidFill>
              </a:rPr>
              <a:t>STEP</a:t>
            </a:r>
            <a:endParaRPr lang="en-US" sz="1050" dirty="0"/>
          </a:p>
        </p:txBody>
      </p:sp>
      <p:sp>
        <p:nvSpPr>
          <p:cNvPr id="7" name="Text 5"/>
          <p:cNvSpPr txBox="1"/>
          <p:nvPr/>
        </p:nvSpPr>
        <p:spPr>
          <a:xfrm>
            <a:off x="4315968" y="1536192"/>
            <a:ext cx="3017520" cy="219456"/>
          </a:xfrm>
          <a:prstGeom prst="rect">
            <a:avLst/>
          </a:prstGeom>
          <a:noFill/>
          <a:ln/>
        </p:spPr>
        <p:txBody>
          <a:bodyPr wrap="square" lIns="0" tIns="0" rIns="0" bIns="0" rtlCol="0" anchor="ctr"/>
          <a:lstStyle/>
          <a:p>
            <a:pPr indent="0" marL="0">
              <a:buNone/>
            </a:pPr>
            <a:r>
              <a:rPr lang="en-US" sz="1050" b="1" spc="100" kern="0" dirty="0">
                <a:solidFill>
                  <a:schemeClr val="bg2"/>
                </a:solidFill>
              </a:rPr>
              <a:t>WHAT THE ROOM DOES</a:t>
            </a:r>
            <a:endParaRPr lang="en-US" sz="1050" dirty="0"/>
          </a:p>
        </p:txBody>
      </p:sp>
      <p:sp>
        <p:nvSpPr>
          <p:cNvPr id="8" name="Text 6"/>
          <p:cNvSpPr txBox="1"/>
          <p:nvPr/>
        </p:nvSpPr>
        <p:spPr>
          <a:xfrm>
            <a:off x="8641080" y="1536192"/>
            <a:ext cx="3017520" cy="219456"/>
          </a:xfrm>
          <a:prstGeom prst="rect">
            <a:avLst/>
          </a:prstGeom>
          <a:noFill/>
          <a:ln/>
        </p:spPr>
        <p:txBody>
          <a:bodyPr wrap="square" lIns="0" tIns="0" rIns="0" bIns="0" rtlCol="0" anchor="ctr"/>
          <a:lstStyle/>
          <a:p>
            <a:pPr indent="0" marL="0">
              <a:buNone/>
            </a:pPr>
            <a:r>
              <a:rPr lang="en-US" sz="1050" b="1" spc="100" kern="0" dirty="0">
                <a:solidFill>
                  <a:schemeClr val="bg2"/>
                </a:solidFill>
              </a:rPr>
              <a:t>CHECKPOINT · WHAT MUST EXIST</a:t>
            </a:r>
            <a:endParaRPr lang="en-US" sz="1050" dirty="0"/>
          </a:p>
        </p:txBody>
      </p:sp>
      <p:sp>
        <p:nvSpPr>
          <p:cNvPr id="9" name="row-1"/>
          <p:cNvSpPr/>
          <p:nvPr/>
        </p:nvSpPr>
        <p:spPr>
          <a:xfrm>
            <a:off x="457200" y="1810512"/>
            <a:ext cx="11274552" cy="420624"/>
          </a:xfrm>
          <a:prstGeom prst="roundRect">
            <a:avLst>
              <a:gd name="adj" fmla="val 13043"/>
            </a:avLst>
          </a:prstGeom>
          <a:solidFill>
            <a:schemeClr val="tx2"/>
          </a:solidFill>
          <a:ln/>
        </p:spPr>
      </p:sp>
      <p:sp>
        <p:nvSpPr>
          <p:cNvPr id="10" name="Shape 8"/>
          <p:cNvSpPr/>
          <p:nvPr/>
        </p:nvSpPr>
        <p:spPr>
          <a:xfrm>
            <a:off x="8503920" y="1810512"/>
            <a:ext cx="3227832" cy="420624"/>
          </a:xfrm>
          <a:prstGeom prst="roundRect">
            <a:avLst>
              <a:gd name="adj" fmla="val 13043"/>
            </a:avLst>
          </a:prstGeom>
          <a:solidFill>
            <a:schemeClr val="accent6"/>
          </a:solidFill>
          <a:ln/>
        </p:spPr>
      </p:sp>
      <p:sp>
        <p:nvSpPr>
          <p:cNvPr id="11" name="Text 9"/>
          <p:cNvSpPr txBox="1"/>
          <p:nvPr/>
        </p:nvSpPr>
        <p:spPr>
          <a:xfrm>
            <a:off x="621792" y="1847088"/>
            <a:ext cx="1097280" cy="219456"/>
          </a:xfrm>
          <a:prstGeom prst="rect">
            <a:avLst/>
          </a:prstGeom>
          <a:noFill/>
          <a:ln/>
        </p:spPr>
        <p:txBody>
          <a:bodyPr wrap="square" lIns="0" tIns="0" rIns="0" bIns="0" rtlCol="0" anchor="ctr"/>
          <a:lstStyle/>
          <a:p>
            <a:pPr indent="0" marL="0">
              <a:buNone/>
            </a:pPr>
            <a:r>
              <a:rPr lang="en-US" sz="1300" b="1" dirty="0">
                <a:solidFill>
                  <a:schemeClr val="accent1"/>
                </a:solidFill>
              </a:rPr>
              <a:t>00–05′</a:t>
            </a:r>
            <a:endParaRPr lang="en-US" sz="1300" dirty="0"/>
          </a:p>
        </p:txBody>
      </p:sp>
      <p:sp>
        <p:nvSpPr>
          <p:cNvPr id="12" name="Shape 10"/>
          <p:cNvSpPr/>
          <p:nvPr/>
        </p:nvSpPr>
        <p:spPr>
          <a:xfrm>
            <a:off x="621792" y="2093976"/>
            <a:ext cx="1005840" cy="64008"/>
          </a:xfrm>
          <a:prstGeom prst="rect">
            <a:avLst/>
          </a:prstGeom>
          <a:solidFill>
            <a:schemeClr val="accent6"/>
          </a:solidFill>
          <a:ln/>
        </p:spPr>
      </p:sp>
      <p:sp>
        <p:nvSpPr>
          <p:cNvPr id="13" name="Shape 11"/>
          <p:cNvSpPr/>
          <p:nvPr/>
        </p:nvSpPr>
        <p:spPr>
          <a:xfrm>
            <a:off x="621792" y="2093976"/>
            <a:ext cx="83820" cy="64008"/>
          </a:xfrm>
          <a:prstGeom prst="rect">
            <a:avLst/>
          </a:prstGeom>
          <a:solidFill>
            <a:schemeClr val="accent1"/>
          </a:solidFill>
          <a:ln/>
        </p:spPr>
      </p:sp>
      <p:sp>
        <p:nvSpPr>
          <p:cNvPr id="14" name="Shape 12"/>
          <p:cNvSpPr/>
          <p:nvPr/>
        </p:nvSpPr>
        <p:spPr>
          <a:xfrm>
            <a:off x="1828800" y="1874520"/>
            <a:ext cx="292608" cy="292608"/>
          </a:xfrm>
          <a:prstGeom prst="ellipse">
            <a:avLst/>
          </a:prstGeom>
          <a:solidFill>
            <a:schemeClr val="accent1"/>
          </a:solidFill>
          <a:ln/>
        </p:spPr>
      </p:sp>
      <p:sp>
        <p:nvSpPr>
          <p:cNvPr id="15" name="Text 13"/>
          <p:cNvSpPr txBox="1"/>
          <p:nvPr/>
        </p:nvSpPr>
        <p:spPr>
          <a:xfrm>
            <a:off x="1828800" y="1874520"/>
            <a:ext cx="292608" cy="29260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6" name="step-1"/>
          <p:cNvSpPr txBox="1"/>
          <p:nvPr/>
        </p:nvSpPr>
        <p:spPr>
          <a:xfrm>
            <a:off x="2212848" y="1810512"/>
            <a:ext cx="2011680" cy="420624"/>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Orient</a:t>
            </a:r>
            <a:endParaRPr lang="en-US" sz="1400" dirty="0"/>
          </a:p>
        </p:txBody>
      </p:sp>
      <p:sp>
        <p:nvSpPr>
          <p:cNvPr id="17" name="Text 15"/>
          <p:cNvSpPr txBox="1"/>
          <p:nvPr/>
        </p:nvSpPr>
        <p:spPr>
          <a:xfrm>
            <a:off x="4315968" y="1810512"/>
            <a:ext cx="4050792" cy="420624"/>
          </a:xfrm>
          <a:prstGeom prst="rect">
            <a:avLst/>
          </a:prstGeom>
          <a:noFill/>
          <a:ln/>
        </p:spPr>
        <p:txBody>
          <a:bodyPr wrap="square" lIns="0" tIns="0" rIns="0" bIns="0" rtlCol="0" anchor="ctr"/>
          <a:lstStyle/>
          <a:p>
            <a:pPr indent="0" marL="0">
              <a:buNone/>
            </a:pPr>
            <a:r>
              <a:rPr lang="en-US" sz="1300" dirty="0">
                <a:solidFill>
                  <a:schemeClr val="bg1"/>
                </a:solidFill>
              </a:rPr>
              <a:t>Read the cold open and the case card aloud. Name the roles. The Builder opens Agent Builder.</a:t>
            </a:r>
            <a:endParaRPr lang="en-US" sz="1300" dirty="0"/>
          </a:p>
        </p:txBody>
      </p:sp>
      <p:sp>
        <p:nvSpPr>
          <p:cNvPr id="18" name="Text 16"/>
          <p:cNvSpPr txBox="1"/>
          <p:nvPr/>
        </p:nvSpPr>
        <p:spPr>
          <a:xfrm>
            <a:off x="8641080" y="1810512"/>
            <a:ext cx="2953512" cy="420624"/>
          </a:xfrm>
          <a:prstGeom prst="rect">
            <a:avLst/>
          </a:prstGeom>
          <a:noFill/>
          <a:ln/>
        </p:spPr>
        <p:txBody>
          <a:bodyPr wrap="square" lIns="0" tIns="0" rIns="0" bIns="0" rtlCol="0" anchor="ctr"/>
          <a:lstStyle/>
          <a:p>
            <a:pPr indent="0" marL="0">
              <a:buNone/>
            </a:pPr>
            <a:r>
              <a:rPr lang="en-US" sz="1300" dirty="0">
                <a:solidFill>
                  <a:schemeClr val="bg1"/>
                </a:solidFill>
              </a:rPr>
              <a:t>Roles named; tool open, or paper mode chosen</a:t>
            </a:r>
            <a:endParaRPr lang="en-US" sz="1300" dirty="0"/>
          </a:p>
        </p:txBody>
      </p:sp>
      <p:sp>
        <p:nvSpPr>
          <p:cNvPr id="19" name="row-2"/>
          <p:cNvSpPr/>
          <p:nvPr/>
        </p:nvSpPr>
        <p:spPr>
          <a:xfrm>
            <a:off x="457200" y="2286000"/>
            <a:ext cx="11274552" cy="420624"/>
          </a:xfrm>
          <a:prstGeom prst="roundRect">
            <a:avLst>
              <a:gd name="adj" fmla="val 13043"/>
            </a:avLst>
          </a:prstGeom>
          <a:solidFill>
            <a:schemeClr val="tx2"/>
          </a:solidFill>
          <a:ln/>
        </p:spPr>
      </p:sp>
      <p:sp>
        <p:nvSpPr>
          <p:cNvPr id="20" name="Shape 18"/>
          <p:cNvSpPr/>
          <p:nvPr/>
        </p:nvSpPr>
        <p:spPr>
          <a:xfrm>
            <a:off x="8503920" y="2286000"/>
            <a:ext cx="3227832" cy="420624"/>
          </a:xfrm>
          <a:prstGeom prst="roundRect">
            <a:avLst>
              <a:gd name="adj" fmla="val 13043"/>
            </a:avLst>
          </a:prstGeom>
          <a:solidFill>
            <a:schemeClr val="accent6"/>
          </a:solidFill>
          <a:ln/>
        </p:spPr>
      </p:sp>
      <p:sp>
        <p:nvSpPr>
          <p:cNvPr id="21" name="Text 19"/>
          <p:cNvSpPr txBox="1"/>
          <p:nvPr/>
        </p:nvSpPr>
        <p:spPr>
          <a:xfrm>
            <a:off x="621792" y="2322576"/>
            <a:ext cx="1097280" cy="219456"/>
          </a:xfrm>
          <a:prstGeom prst="rect">
            <a:avLst/>
          </a:prstGeom>
          <a:noFill/>
          <a:ln/>
        </p:spPr>
        <p:txBody>
          <a:bodyPr wrap="square" lIns="0" tIns="0" rIns="0" bIns="0" rtlCol="0" anchor="ctr"/>
          <a:lstStyle/>
          <a:p>
            <a:pPr indent="0" marL="0">
              <a:buNone/>
            </a:pPr>
            <a:r>
              <a:rPr lang="en-US" sz="1300" b="1" dirty="0">
                <a:solidFill>
                  <a:schemeClr val="accent1"/>
                </a:solidFill>
              </a:rPr>
              <a:t>05–15′</a:t>
            </a:r>
            <a:endParaRPr lang="en-US" sz="1300" dirty="0"/>
          </a:p>
        </p:txBody>
      </p:sp>
      <p:sp>
        <p:nvSpPr>
          <p:cNvPr id="22" name="Shape 20"/>
          <p:cNvSpPr/>
          <p:nvPr/>
        </p:nvSpPr>
        <p:spPr>
          <a:xfrm>
            <a:off x="621792" y="2569464"/>
            <a:ext cx="1005840" cy="64008"/>
          </a:xfrm>
          <a:prstGeom prst="rect">
            <a:avLst/>
          </a:prstGeom>
          <a:solidFill>
            <a:schemeClr val="accent6"/>
          </a:solidFill>
          <a:ln/>
        </p:spPr>
      </p:sp>
      <p:sp>
        <p:nvSpPr>
          <p:cNvPr id="23" name="Shape 21"/>
          <p:cNvSpPr/>
          <p:nvPr/>
        </p:nvSpPr>
        <p:spPr>
          <a:xfrm>
            <a:off x="705612" y="2569464"/>
            <a:ext cx="167640" cy="64008"/>
          </a:xfrm>
          <a:prstGeom prst="rect">
            <a:avLst/>
          </a:prstGeom>
          <a:solidFill>
            <a:schemeClr val="accent1"/>
          </a:solidFill>
          <a:ln/>
        </p:spPr>
      </p:sp>
      <p:sp>
        <p:nvSpPr>
          <p:cNvPr id="24" name="Shape 22"/>
          <p:cNvSpPr/>
          <p:nvPr/>
        </p:nvSpPr>
        <p:spPr>
          <a:xfrm>
            <a:off x="1828800" y="2350008"/>
            <a:ext cx="292608" cy="292608"/>
          </a:xfrm>
          <a:prstGeom prst="ellipse">
            <a:avLst/>
          </a:prstGeom>
          <a:solidFill>
            <a:schemeClr val="accent1"/>
          </a:solidFill>
          <a:ln/>
        </p:spPr>
      </p:sp>
      <p:sp>
        <p:nvSpPr>
          <p:cNvPr id="25" name="Text 23"/>
          <p:cNvSpPr txBox="1"/>
          <p:nvPr/>
        </p:nvSpPr>
        <p:spPr>
          <a:xfrm>
            <a:off x="1828800" y="2350008"/>
            <a:ext cx="292608" cy="29260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26" name="step-2"/>
          <p:cNvSpPr txBox="1"/>
          <p:nvPr/>
        </p:nvSpPr>
        <p:spPr>
          <a:xfrm>
            <a:off x="2212848" y="2286000"/>
            <a:ext cx="2011680" cy="420624"/>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Map the hours</a:t>
            </a:r>
            <a:endParaRPr lang="en-US" sz="1400" dirty="0"/>
          </a:p>
        </p:txBody>
      </p:sp>
      <p:sp>
        <p:nvSpPr>
          <p:cNvPr id="27" name="Text 25"/>
          <p:cNvSpPr txBox="1"/>
          <p:nvPr/>
        </p:nvSpPr>
        <p:spPr>
          <a:xfrm>
            <a:off x="4315968" y="2286000"/>
            <a:ext cx="4050792" cy="420624"/>
          </a:xfrm>
          <a:prstGeom prst="rect">
            <a:avLst/>
          </a:prstGeom>
          <a:noFill/>
          <a:ln/>
        </p:spPr>
        <p:txBody>
          <a:bodyPr wrap="square" lIns="0" tIns="0" rIns="0" bIns="0" rtlCol="0" anchor="ctr"/>
          <a:lstStyle/>
          <a:p>
            <a:pPr indent="0" marL="0">
              <a:buNone/>
            </a:pPr>
            <a:r>
              <a:rPr lang="en-US" sz="1300" dirty="0">
                <a:solidFill>
                  <a:schemeClr val="bg1"/>
                </a:solidFill>
              </a:rPr>
              <a:t>Time each step of the job. Pick the biggest repetitive chunk and what those hours would buy.</a:t>
            </a:r>
            <a:endParaRPr lang="en-US" sz="1300" dirty="0"/>
          </a:p>
        </p:txBody>
      </p:sp>
      <p:sp>
        <p:nvSpPr>
          <p:cNvPr id="28" name="Text 26"/>
          <p:cNvSpPr txBox="1"/>
          <p:nvPr/>
        </p:nvSpPr>
        <p:spPr>
          <a:xfrm>
            <a:off x="8641080" y="2286000"/>
            <a:ext cx="2953512" cy="420624"/>
          </a:xfrm>
          <a:prstGeom prst="rect">
            <a:avLst/>
          </a:prstGeom>
          <a:noFill/>
          <a:ln/>
        </p:spPr>
        <p:txBody>
          <a:bodyPr wrap="square" lIns="0" tIns="0" rIns="0" bIns="0" rtlCol="0" anchor="ctr"/>
          <a:lstStyle/>
          <a:p>
            <a:pPr indent="0" marL="0">
              <a:buNone/>
            </a:pPr>
            <a:r>
              <a:rPr lang="en-US" sz="1300" dirty="0">
                <a:solidFill>
                  <a:schemeClr val="bg1"/>
                </a:solidFill>
              </a:rPr>
              <a:t>Baseline in hours per PM per week, and its business impact</a:t>
            </a:r>
            <a:endParaRPr lang="en-US" sz="1300" dirty="0"/>
          </a:p>
        </p:txBody>
      </p:sp>
      <p:sp>
        <p:nvSpPr>
          <p:cNvPr id="29" name="row-3"/>
          <p:cNvSpPr/>
          <p:nvPr/>
        </p:nvSpPr>
        <p:spPr>
          <a:xfrm>
            <a:off x="457200" y="2761488"/>
            <a:ext cx="11274552" cy="420624"/>
          </a:xfrm>
          <a:prstGeom prst="roundRect">
            <a:avLst>
              <a:gd name="adj" fmla="val 13043"/>
            </a:avLst>
          </a:prstGeom>
          <a:solidFill>
            <a:schemeClr val="tx2"/>
          </a:solidFill>
          <a:ln/>
        </p:spPr>
      </p:sp>
      <p:sp>
        <p:nvSpPr>
          <p:cNvPr id="30" name="Shape 28"/>
          <p:cNvSpPr/>
          <p:nvPr/>
        </p:nvSpPr>
        <p:spPr>
          <a:xfrm>
            <a:off x="8503920" y="2761488"/>
            <a:ext cx="3227832" cy="420624"/>
          </a:xfrm>
          <a:prstGeom prst="roundRect">
            <a:avLst>
              <a:gd name="adj" fmla="val 13043"/>
            </a:avLst>
          </a:prstGeom>
          <a:solidFill>
            <a:schemeClr val="accent6"/>
          </a:solidFill>
          <a:ln/>
        </p:spPr>
      </p:sp>
      <p:sp>
        <p:nvSpPr>
          <p:cNvPr id="31" name="Text 29"/>
          <p:cNvSpPr txBox="1"/>
          <p:nvPr/>
        </p:nvSpPr>
        <p:spPr>
          <a:xfrm>
            <a:off x="621792" y="2798064"/>
            <a:ext cx="1097280" cy="219456"/>
          </a:xfrm>
          <a:prstGeom prst="rect">
            <a:avLst/>
          </a:prstGeom>
          <a:noFill/>
          <a:ln/>
        </p:spPr>
        <p:txBody>
          <a:bodyPr wrap="square" lIns="0" tIns="0" rIns="0" bIns="0" rtlCol="0" anchor="ctr"/>
          <a:lstStyle/>
          <a:p>
            <a:pPr indent="0" marL="0">
              <a:buNone/>
            </a:pPr>
            <a:r>
              <a:rPr lang="en-US" sz="1300" b="1" dirty="0">
                <a:solidFill>
                  <a:schemeClr val="accent1"/>
                </a:solidFill>
              </a:rPr>
              <a:t>15–27′</a:t>
            </a:r>
            <a:endParaRPr lang="en-US" sz="1300" dirty="0"/>
          </a:p>
        </p:txBody>
      </p:sp>
      <p:sp>
        <p:nvSpPr>
          <p:cNvPr id="32" name="Shape 30"/>
          <p:cNvSpPr/>
          <p:nvPr/>
        </p:nvSpPr>
        <p:spPr>
          <a:xfrm>
            <a:off x="621792" y="3044952"/>
            <a:ext cx="1005840" cy="64008"/>
          </a:xfrm>
          <a:prstGeom prst="rect">
            <a:avLst/>
          </a:prstGeom>
          <a:solidFill>
            <a:schemeClr val="accent6"/>
          </a:solidFill>
          <a:ln/>
        </p:spPr>
      </p:sp>
      <p:sp>
        <p:nvSpPr>
          <p:cNvPr id="33" name="Shape 31"/>
          <p:cNvSpPr/>
          <p:nvPr/>
        </p:nvSpPr>
        <p:spPr>
          <a:xfrm>
            <a:off x="873252" y="3044952"/>
            <a:ext cx="201168" cy="64008"/>
          </a:xfrm>
          <a:prstGeom prst="rect">
            <a:avLst/>
          </a:prstGeom>
          <a:solidFill>
            <a:schemeClr val="accent1"/>
          </a:solidFill>
          <a:ln/>
        </p:spPr>
      </p:sp>
      <p:sp>
        <p:nvSpPr>
          <p:cNvPr id="34" name="Shape 32"/>
          <p:cNvSpPr/>
          <p:nvPr/>
        </p:nvSpPr>
        <p:spPr>
          <a:xfrm>
            <a:off x="1828800" y="2825496"/>
            <a:ext cx="292608" cy="292608"/>
          </a:xfrm>
          <a:prstGeom prst="ellipse">
            <a:avLst/>
          </a:prstGeom>
          <a:solidFill>
            <a:schemeClr val="accent1"/>
          </a:solidFill>
          <a:ln/>
        </p:spPr>
      </p:sp>
      <p:sp>
        <p:nvSpPr>
          <p:cNvPr id="35" name="Text 33"/>
          <p:cNvSpPr txBox="1"/>
          <p:nvPr/>
        </p:nvSpPr>
        <p:spPr>
          <a:xfrm>
            <a:off x="1828800" y="2825496"/>
            <a:ext cx="292608" cy="29260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36" name="step-3"/>
          <p:cNvSpPr txBox="1"/>
          <p:nvPr/>
        </p:nvSpPr>
        <p:spPr>
          <a:xfrm>
            <a:off x="2212848" y="2761488"/>
            <a:ext cx="2011680" cy="420624"/>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Design the agent</a:t>
            </a:r>
            <a:endParaRPr lang="en-US" sz="1400" dirty="0"/>
          </a:p>
        </p:txBody>
      </p:sp>
      <p:sp>
        <p:nvSpPr>
          <p:cNvPr id="37" name="Text 35"/>
          <p:cNvSpPr txBox="1"/>
          <p:nvPr/>
        </p:nvSpPr>
        <p:spPr>
          <a:xfrm>
            <a:off x="4315968" y="2761488"/>
            <a:ext cx="4050792" cy="420624"/>
          </a:xfrm>
          <a:prstGeom prst="rect">
            <a:avLst/>
          </a:prstGeom>
          <a:noFill/>
          <a:ln/>
        </p:spPr>
        <p:txBody>
          <a:bodyPr wrap="square" lIns="0" tIns="0" rIns="0" bIns="0" rtlCol="0" anchor="ctr"/>
          <a:lstStyle/>
          <a:p>
            <a:pPr indent="0" marL="0">
              <a:buNone/>
            </a:pPr>
            <a:r>
              <a:rPr lang="en-US" sz="1300" dirty="0">
                <a:solidFill>
                  <a:schemeClr val="bg1"/>
                </a:solidFill>
              </a:rPr>
              <a:t>Brief the agent like a new colleague. Name what the PM decides, and the one way it could fail.</a:t>
            </a:r>
            <a:endParaRPr lang="en-US" sz="1300" dirty="0"/>
          </a:p>
        </p:txBody>
      </p:sp>
      <p:sp>
        <p:nvSpPr>
          <p:cNvPr id="38" name="Text 36"/>
          <p:cNvSpPr txBox="1"/>
          <p:nvPr/>
        </p:nvSpPr>
        <p:spPr>
          <a:xfrm>
            <a:off x="8641080" y="2761488"/>
            <a:ext cx="2953512" cy="420624"/>
          </a:xfrm>
          <a:prstGeom prst="rect">
            <a:avLst/>
          </a:prstGeom>
          <a:noFill/>
          <a:ln/>
        </p:spPr>
        <p:txBody>
          <a:bodyPr wrap="square" lIns="0" tIns="0" rIns="0" bIns="0" rtlCol="0" anchor="ctr"/>
          <a:lstStyle/>
          <a:p>
            <a:pPr indent="0" marL="0">
              <a:buNone/>
            </a:pPr>
            <a:r>
              <a:rPr lang="en-US" sz="1300" dirty="0">
                <a:solidFill>
                  <a:schemeClr val="bg1"/>
                </a:solidFill>
              </a:rPr>
              <a:t>Instructions drafted, three tests written</a:t>
            </a:r>
            <a:endParaRPr lang="en-US" sz="1300" dirty="0"/>
          </a:p>
        </p:txBody>
      </p:sp>
      <p:sp>
        <p:nvSpPr>
          <p:cNvPr id="39" name="row-4"/>
          <p:cNvSpPr/>
          <p:nvPr/>
        </p:nvSpPr>
        <p:spPr>
          <a:xfrm>
            <a:off x="457200" y="3236976"/>
            <a:ext cx="11274552" cy="420624"/>
          </a:xfrm>
          <a:prstGeom prst="roundRect">
            <a:avLst>
              <a:gd name="adj" fmla="val 13043"/>
            </a:avLst>
          </a:prstGeom>
          <a:solidFill>
            <a:schemeClr val="tx2"/>
          </a:solidFill>
          <a:ln/>
        </p:spPr>
      </p:sp>
      <p:sp>
        <p:nvSpPr>
          <p:cNvPr id="40" name="Shape 38"/>
          <p:cNvSpPr/>
          <p:nvPr/>
        </p:nvSpPr>
        <p:spPr>
          <a:xfrm>
            <a:off x="8503920" y="3236976"/>
            <a:ext cx="3227832" cy="420624"/>
          </a:xfrm>
          <a:prstGeom prst="roundRect">
            <a:avLst>
              <a:gd name="adj" fmla="val 13043"/>
            </a:avLst>
          </a:prstGeom>
          <a:solidFill>
            <a:schemeClr val="accent6"/>
          </a:solidFill>
          <a:ln/>
        </p:spPr>
      </p:sp>
      <p:sp>
        <p:nvSpPr>
          <p:cNvPr id="41" name="Text 39"/>
          <p:cNvSpPr txBox="1"/>
          <p:nvPr/>
        </p:nvSpPr>
        <p:spPr>
          <a:xfrm>
            <a:off x="621792" y="3273552"/>
            <a:ext cx="1097280" cy="219456"/>
          </a:xfrm>
          <a:prstGeom prst="rect">
            <a:avLst/>
          </a:prstGeom>
          <a:noFill/>
          <a:ln/>
        </p:spPr>
        <p:txBody>
          <a:bodyPr wrap="square" lIns="0" tIns="0" rIns="0" bIns="0" rtlCol="0" anchor="ctr"/>
          <a:lstStyle/>
          <a:p>
            <a:pPr indent="0" marL="0">
              <a:buNone/>
            </a:pPr>
            <a:r>
              <a:rPr lang="en-US" sz="1300" b="1" dirty="0">
                <a:solidFill>
                  <a:schemeClr val="accent1"/>
                </a:solidFill>
              </a:rPr>
              <a:t>27–42′</a:t>
            </a:r>
            <a:endParaRPr lang="en-US" sz="1300" dirty="0"/>
          </a:p>
        </p:txBody>
      </p:sp>
      <p:sp>
        <p:nvSpPr>
          <p:cNvPr id="42" name="Shape 40"/>
          <p:cNvSpPr/>
          <p:nvPr/>
        </p:nvSpPr>
        <p:spPr>
          <a:xfrm>
            <a:off x="621792" y="3520440"/>
            <a:ext cx="1005840" cy="64008"/>
          </a:xfrm>
          <a:prstGeom prst="rect">
            <a:avLst/>
          </a:prstGeom>
          <a:solidFill>
            <a:schemeClr val="accent6"/>
          </a:solidFill>
          <a:ln/>
        </p:spPr>
      </p:sp>
      <p:sp>
        <p:nvSpPr>
          <p:cNvPr id="43" name="Shape 41"/>
          <p:cNvSpPr/>
          <p:nvPr/>
        </p:nvSpPr>
        <p:spPr>
          <a:xfrm>
            <a:off x="1074420" y="3520440"/>
            <a:ext cx="251460" cy="64008"/>
          </a:xfrm>
          <a:prstGeom prst="rect">
            <a:avLst/>
          </a:prstGeom>
          <a:solidFill>
            <a:schemeClr val="accent1"/>
          </a:solidFill>
          <a:ln/>
        </p:spPr>
      </p:sp>
      <p:sp>
        <p:nvSpPr>
          <p:cNvPr id="44" name="Shape 42"/>
          <p:cNvSpPr/>
          <p:nvPr/>
        </p:nvSpPr>
        <p:spPr>
          <a:xfrm>
            <a:off x="1828800" y="3300984"/>
            <a:ext cx="292608" cy="292608"/>
          </a:xfrm>
          <a:prstGeom prst="ellipse">
            <a:avLst/>
          </a:prstGeom>
          <a:solidFill>
            <a:schemeClr val="accent1"/>
          </a:solidFill>
          <a:ln/>
        </p:spPr>
      </p:sp>
      <p:sp>
        <p:nvSpPr>
          <p:cNvPr id="45" name="Text 43"/>
          <p:cNvSpPr txBox="1"/>
          <p:nvPr/>
        </p:nvSpPr>
        <p:spPr>
          <a:xfrm>
            <a:off x="1828800" y="3300984"/>
            <a:ext cx="292608" cy="29260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46" name="step-4"/>
          <p:cNvSpPr txBox="1"/>
          <p:nvPr/>
        </p:nvSpPr>
        <p:spPr>
          <a:xfrm>
            <a:off x="2212848" y="3236976"/>
            <a:ext cx="2011680" cy="420624"/>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Build &amp; challenge</a:t>
            </a:r>
            <a:endParaRPr lang="en-US" sz="1400" dirty="0"/>
          </a:p>
          <a:p>
            <a:pPr indent="0" marL="0">
              <a:buNone/>
            </a:pPr>
            <a:r>
              <a:rPr lang="en-US" sz="1100" dirty="0">
                <a:solidFill>
                  <a:schemeClr val="accent2"/>
                </a:solidFill>
              </a:rPr>
              <a:t>two sub-teams in parallel</a:t>
            </a:r>
            <a:endParaRPr lang="en-US" sz="1400" dirty="0"/>
          </a:p>
        </p:txBody>
      </p:sp>
      <p:sp>
        <p:nvSpPr>
          <p:cNvPr id="47" name="Text 45"/>
          <p:cNvSpPr txBox="1"/>
          <p:nvPr/>
        </p:nvSpPr>
        <p:spPr>
          <a:xfrm>
            <a:off x="4315968" y="3236976"/>
            <a:ext cx="4050792" cy="420624"/>
          </a:xfrm>
          <a:prstGeom prst="rect">
            <a:avLst/>
          </a:prstGeom>
          <a:noFill/>
          <a:ln/>
        </p:spPr>
        <p:txBody>
          <a:bodyPr wrap="square" lIns="0" tIns="0" rIns="0" bIns="0" rtlCol="0" anchor="ctr"/>
          <a:lstStyle/>
          <a:p>
            <a:pPr indent="0" marL="0">
              <a:buNone/>
            </a:pPr>
            <a:r>
              <a:rPr lang="en-US" sz="1300" dirty="0">
                <a:solidFill>
                  <a:schemeClr val="bg1"/>
                </a:solidFill>
              </a:rPr>
              <a:t>Builders create the agent and run the three tests. Challengers hunt the failure and write a guardrail.</a:t>
            </a:r>
            <a:endParaRPr lang="en-US" sz="1300" dirty="0"/>
          </a:p>
        </p:txBody>
      </p:sp>
      <p:sp>
        <p:nvSpPr>
          <p:cNvPr id="48" name="Text 46"/>
          <p:cNvSpPr txBox="1"/>
          <p:nvPr/>
        </p:nvSpPr>
        <p:spPr>
          <a:xfrm>
            <a:off x="8641080" y="3236976"/>
            <a:ext cx="2953512" cy="420624"/>
          </a:xfrm>
          <a:prstGeom prst="rect">
            <a:avLst/>
          </a:prstGeom>
          <a:noFill/>
          <a:ln/>
        </p:spPr>
        <p:txBody>
          <a:bodyPr wrap="square" lIns="0" tIns="0" rIns="0" bIns="0" rtlCol="0" anchor="ctr"/>
          <a:lstStyle/>
          <a:p>
            <a:pPr indent="0" marL="0">
              <a:buNone/>
            </a:pPr>
            <a:r>
              <a:rPr lang="en-US" sz="1300" dirty="0">
                <a:solidFill>
                  <a:schemeClr val="bg1"/>
                </a:solidFill>
              </a:rPr>
              <a:t>Test results and review time recorded</a:t>
            </a:r>
            <a:endParaRPr lang="en-US" sz="1300" dirty="0"/>
          </a:p>
        </p:txBody>
      </p:sp>
      <p:sp>
        <p:nvSpPr>
          <p:cNvPr id="49" name="row-5"/>
          <p:cNvSpPr/>
          <p:nvPr/>
        </p:nvSpPr>
        <p:spPr>
          <a:xfrm>
            <a:off x="457200" y="3712464"/>
            <a:ext cx="11274552" cy="420624"/>
          </a:xfrm>
          <a:prstGeom prst="roundRect">
            <a:avLst>
              <a:gd name="adj" fmla="val 13043"/>
            </a:avLst>
          </a:prstGeom>
          <a:solidFill>
            <a:schemeClr val="tx2"/>
          </a:solidFill>
          <a:ln/>
        </p:spPr>
      </p:sp>
      <p:sp>
        <p:nvSpPr>
          <p:cNvPr id="50" name="Shape 48"/>
          <p:cNvSpPr/>
          <p:nvPr/>
        </p:nvSpPr>
        <p:spPr>
          <a:xfrm>
            <a:off x="8503920" y="3712464"/>
            <a:ext cx="3227832" cy="420624"/>
          </a:xfrm>
          <a:prstGeom prst="roundRect">
            <a:avLst>
              <a:gd name="adj" fmla="val 13043"/>
            </a:avLst>
          </a:prstGeom>
          <a:solidFill>
            <a:schemeClr val="accent6"/>
          </a:solidFill>
          <a:ln/>
        </p:spPr>
      </p:sp>
      <p:sp>
        <p:nvSpPr>
          <p:cNvPr id="51" name="Text 49"/>
          <p:cNvSpPr txBox="1"/>
          <p:nvPr/>
        </p:nvSpPr>
        <p:spPr>
          <a:xfrm>
            <a:off x="621792" y="3749040"/>
            <a:ext cx="1097280" cy="219456"/>
          </a:xfrm>
          <a:prstGeom prst="rect">
            <a:avLst/>
          </a:prstGeom>
          <a:noFill/>
          <a:ln/>
        </p:spPr>
        <p:txBody>
          <a:bodyPr wrap="square" lIns="0" tIns="0" rIns="0" bIns="0" rtlCol="0" anchor="ctr"/>
          <a:lstStyle/>
          <a:p>
            <a:pPr indent="0" marL="0">
              <a:buNone/>
            </a:pPr>
            <a:r>
              <a:rPr lang="en-US" sz="1300" b="1" dirty="0">
                <a:solidFill>
                  <a:schemeClr val="accent1"/>
                </a:solidFill>
              </a:rPr>
              <a:t>42–50′</a:t>
            </a:r>
            <a:endParaRPr lang="en-US" sz="1300" dirty="0"/>
          </a:p>
        </p:txBody>
      </p:sp>
      <p:sp>
        <p:nvSpPr>
          <p:cNvPr id="52" name="Shape 50"/>
          <p:cNvSpPr/>
          <p:nvPr/>
        </p:nvSpPr>
        <p:spPr>
          <a:xfrm>
            <a:off x="621792" y="3995928"/>
            <a:ext cx="1005840" cy="64008"/>
          </a:xfrm>
          <a:prstGeom prst="rect">
            <a:avLst/>
          </a:prstGeom>
          <a:solidFill>
            <a:schemeClr val="accent6"/>
          </a:solidFill>
          <a:ln/>
        </p:spPr>
      </p:sp>
      <p:sp>
        <p:nvSpPr>
          <p:cNvPr id="53" name="Shape 51"/>
          <p:cNvSpPr/>
          <p:nvPr/>
        </p:nvSpPr>
        <p:spPr>
          <a:xfrm>
            <a:off x="1325880" y="3995928"/>
            <a:ext cx="134112" cy="64008"/>
          </a:xfrm>
          <a:prstGeom prst="rect">
            <a:avLst/>
          </a:prstGeom>
          <a:solidFill>
            <a:schemeClr val="accent1"/>
          </a:solidFill>
          <a:ln/>
        </p:spPr>
      </p:sp>
      <p:sp>
        <p:nvSpPr>
          <p:cNvPr id="54" name="Shape 52"/>
          <p:cNvSpPr/>
          <p:nvPr/>
        </p:nvSpPr>
        <p:spPr>
          <a:xfrm>
            <a:off x="1828800" y="3776472"/>
            <a:ext cx="292608" cy="292608"/>
          </a:xfrm>
          <a:prstGeom prst="ellipse">
            <a:avLst/>
          </a:prstGeom>
          <a:solidFill>
            <a:schemeClr val="accent1"/>
          </a:solidFill>
          <a:ln/>
        </p:spPr>
      </p:sp>
      <p:sp>
        <p:nvSpPr>
          <p:cNvPr id="55" name="Text 53"/>
          <p:cNvSpPr txBox="1"/>
          <p:nvPr/>
        </p:nvSpPr>
        <p:spPr>
          <a:xfrm>
            <a:off x="1828800" y="3776472"/>
            <a:ext cx="292608" cy="29260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56" name="step-5"/>
          <p:cNvSpPr txBox="1"/>
          <p:nvPr/>
        </p:nvSpPr>
        <p:spPr>
          <a:xfrm>
            <a:off x="2212848" y="3712464"/>
            <a:ext cx="2011680" cy="420624"/>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Fix &amp; decide</a:t>
            </a:r>
            <a:endParaRPr lang="en-US" sz="1400" dirty="0"/>
          </a:p>
        </p:txBody>
      </p:sp>
      <p:sp>
        <p:nvSpPr>
          <p:cNvPr id="57" name="Text 55"/>
          <p:cNvSpPr txBox="1"/>
          <p:nvPr/>
        </p:nvSpPr>
        <p:spPr>
          <a:xfrm>
            <a:off x="4315968" y="3712464"/>
            <a:ext cx="4050792" cy="420624"/>
          </a:xfrm>
          <a:prstGeom prst="rect">
            <a:avLst/>
          </a:prstGeom>
          <a:noFill/>
          <a:ln/>
        </p:spPr>
        <p:txBody>
          <a:bodyPr wrap="square" lIns="0" tIns="0" rIns="0" bIns="0" rtlCol="0" anchor="ctr"/>
          <a:lstStyle/>
          <a:p>
            <a:pPr indent="0" marL="0">
              <a:buNone/>
            </a:pPr>
            <a:r>
              <a:rPr lang="en-US" sz="1300" dirty="0">
                <a:solidFill>
                  <a:schemeClr val="bg1"/>
                </a:solidFill>
              </a:rPr>
              <a:t>Add one rule per failed test. Choose one guardrail and one metric. Decide the level reached.</a:t>
            </a:r>
            <a:endParaRPr lang="en-US" sz="1300" dirty="0"/>
          </a:p>
        </p:txBody>
      </p:sp>
      <p:sp>
        <p:nvSpPr>
          <p:cNvPr id="58" name="Text 56"/>
          <p:cNvSpPr txBox="1"/>
          <p:nvPr/>
        </p:nvSpPr>
        <p:spPr>
          <a:xfrm>
            <a:off x="8641080" y="3712464"/>
            <a:ext cx="2953512" cy="420624"/>
          </a:xfrm>
          <a:prstGeom prst="rect">
            <a:avLst/>
          </a:prstGeom>
          <a:noFill/>
          <a:ln/>
        </p:spPr>
        <p:txBody>
          <a:bodyPr wrap="square" lIns="0" tIns="0" rIns="0" bIns="0" rtlCol="0" anchor="ctr"/>
          <a:lstStyle/>
          <a:p>
            <a:pPr indent="0" marL="0">
              <a:buNone/>
            </a:pPr>
            <a:r>
              <a:rPr lang="en-US" sz="1300" dirty="0">
                <a:solidFill>
                  <a:schemeClr val="bg1"/>
                </a:solidFill>
              </a:rPr>
              <a:t>Final instructions, guardrail, level reached</a:t>
            </a:r>
            <a:endParaRPr lang="en-US" sz="1300" dirty="0"/>
          </a:p>
        </p:txBody>
      </p:sp>
      <p:sp>
        <p:nvSpPr>
          <p:cNvPr id="59" name="row-6"/>
          <p:cNvSpPr/>
          <p:nvPr/>
        </p:nvSpPr>
        <p:spPr>
          <a:xfrm>
            <a:off x="457200" y="4187952"/>
            <a:ext cx="11274552" cy="420624"/>
          </a:xfrm>
          <a:prstGeom prst="roundRect">
            <a:avLst>
              <a:gd name="adj" fmla="val 13043"/>
            </a:avLst>
          </a:prstGeom>
          <a:solidFill>
            <a:schemeClr val="tx2"/>
          </a:solidFill>
          <a:ln/>
        </p:spPr>
      </p:sp>
      <p:sp>
        <p:nvSpPr>
          <p:cNvPr id="60" name="Shape 58"/>
          <p:cNvSpPr/>
          <p:nvPr/>
        </p:nvSpPr>
        <p:spPr>
          <a:xfrm>
            <a:off x="8503920" y="4187952"/>
            <a:ext cx="3227832" cy="420624"/>
          </a:xfrm>
          <a:prstGeom prst="roundRect">
            <a:avLst>
              <a:gd name="adj" fmla="val 13043"/>
            </a:avLst>
          </a:prstGeom>
          <a:solidFill>
            <a:schemeClr val="accent6"/>
          </a:solidFill>
          <a:ln/>
        </p:spPr>
      </p:sp>
      <p:sp>
        <p:nvSpPr>
          <p:cNvPr id="61" name="Text 59"/>
          <p:cNvSpPr txBox="1"/>
          <p:nvPr/>
        </p:nvSpPr>
        <p:spPr>
          <a:xfrm>
            <a:off x="621792" y="4224528"/>
            <a:ext cx="1097280" cy="219456"/>
          </a:xfrm>
          <a:prstGeom prst="rect">
            <a:avLst/>
          </a:prstGeom>
          <a:noFill/>
          <a:ln/>
        </p:spPr>
        <p:txBody>
          <a:bodyPr wrap="square" lIns="0" tIns="0" rIns="0" bIns="0" rtlCol="0" anchor="ctr"/>
          <a:lstStyle/>
          <a:p>
            <a:pPr indent="0" marL="0">
              <a:buNone/>
            </a:pPr>
            <a:r>
              <a:rPr lang="en-US" sz="1300" b="1" dirty="0">
                <a:solidFill>
                  <a:schemeClr val="accent1"/>
                </a:solidFill>
              </a:rPr>
              <a:t>50–60′</a:t>
            </a:r>
            <a:endParaRPr lang="en-US" sz="1300" dirty="0"/>
          </a:p>
        </p:txBody>
      </p:sp>
      <p:sp>
        <p:nvSpPr>
          <p:cNvPr id="62" name="Shape 60"/>
          <p:cNvSpPr/>
          <p:nvPr/>
        </p:nvSpPr>
        <p:spPr>
          <a:xfrm>
            <a:off x="621792" y="4471416"/>
            <a:ext cx="1005840" cy="64008"/>
          </a:xfrm>
          <a:prstGeom prst="rect">
            <a:avLst/>
          </a:prstGeom>
          <a:solidFill>
            <a:schemeClr val="accent6"/>
          </a:solidFill>
          <a:ln/>
        </p:spPr>
      </p:sp>
      <p:sp>
        <p:nvSpPr>
          <p:cNvPr id="63" name="Shape 61"/>
          <p:cNvSpPr/>
          <p:nvPr/>
        </p:nvSpPr>
        <p:spPr>
          <a:xfrm>
            <a:off x="1459992" y="4471416"/>
            <a:ext cx="167640" cy="64008"/>
          </a:xfrm>
          <a:prstGeom prst="rect">
            <a:avLst/>
          </a:prstGeom>
          <a:solidFill>
            <a:schemeClr val="accent1"/>
          </a:solidFill>
          <a:ln/>
        </p:spPr>
      </p:sp>
      <p:sp>
        <p:nvSpPr>
          <p:cNvPr id="64" name="Shape 62"/>
          <p:cNvSpPr/>
          <p:nvPr/>
        </p:nvSpPr>
        <p:spPr>
          <a:xfrm>
            <a:off x="1828800" y="4251960"/>
            <a:ext cx="292608" cy="292608"/>
          </a:xfrm>
          <a:prstGeom prst="ellipse">
            <a:avLst/>
          </a:prstGeom>
          <a:solidFill>
            <a:schemeClr val="accent1"/>
          </a:solidFill>
          <a:ln/>
        </p:spPr>
      </p:sp>
      <p:sp>
        <p:nvSpPr>
          <p:cNvPr id="65" name="Text 63"/>
          <p:cNvSpPr txBox="1"/>
          <p:nvPr/>
        </p:nvSpPr>
        <p:spPr>
          <a:xfrm>
            <a:off x="1828800" y="4251960"/>
            <a:ext cx="292608" cy="292608"/>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66" name="step-6"/>
          <p:cNvSpPr txBox="1"/>
          <p:nvPr/>
        </p:nvSpPr>
        <p:spPr>
          <a:xfrm>
            <a:off x="2212848" y="4187952"/>
            <a:ext cx="2011680" cy="420624"/>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Package &amp; commit</a:t>
            </a:r>
            <a:endParaRPr lang="en-US" sz="1400" dirty="0"/>
          </a:p>
        </p:txBody>
      </p:sp>
      <p:sp>
        <p:nvSpPr>
          <p:cNvPr id="67" name="Text 65"/>
          <p:cNvSpPr txBox="1"/>
          <p:nvPr/>
        </p:nvSpPr>
        <p:spPr>
          <a:xfrm>
            <a:off x="4315968" y="4187952"/>
            <a:ext cx="4050792" cy="420624"/>
          </a:xfrm>
          <a:prstGeom prst="rect">
            <a:avLst/>
          </a:prstGeom>
          <a:noFill/>
          <a:ln/>
        </p:spPr>
        <p:txBody>
          <a:bodyPr wrap="square" lIns="0" tIns="0" rIns="0" bIns="0" rtlCol="0" anchor="ctr"/>
          <a:lstStyle/>
          <a:p>
            <a:pPr indent="0" marL="0">
              <a:buNone/>
            </a:pPr>
            <a:r>
              <a:rPr lang="en-US" sz="1300" dirty="0">
                <a:solidFill>
                  <a:schemeClr val="bg1"/>
                </a:solidFill>
              </a:rPr>
              <a:t>Name the pilot owner and the first test. Rehearse the debrief card (90 seconds) once.</a:t>
            </a:r>
            <a:endParaRPr lang="en-US" sz="1300" dirty="0"/>
          </a:p>
        </p:txBody>
      </p:sp>
      <p:sp>
        <p:nvSpPr>
          <p:cNvPr id="68" name="Text 66"/>
          <p:cNvSpPr txBox="1"/>
          <p:nvPr/>
        </p:nvSpPr>
        <p:spPr>
          <a:xfrm>
            <a:off x="8641080" y="4187952"/>
            <a:ext cx="2953512" cy="420624"/>
          </a:xfrm>
          <a:prstGeom prst="rect">
            <a:avLst/>
          </a:prstGeom>
          <a:noFill/>
          <a:ln/>
        </p:spPr>
        <p:txBody>
          <a:bodyPr wrap="square" lIns="0" tIns="0" rIns="0" bIns="0" rtlCol="0" anchor="ctr"/>
          <a:lstStyle/>
          <a:p>
            <a:pPr indent="0" marL="0">
              <a:buNone/>
            </a:pPr>
            <a:r>
              <a:rPr lang="en-US" sz="1300" dirty="0">
                <a:solidFill>
                  <a:schemeClr val="bg1"/>
                </a:solidFill>
              </a:rPr>
              <a:t>Pilot Pack submitted, debrief card ready</a:t>
            </a:r>
            <a:endParaRPr lang="en-US" sz="1300" dirty="0"/>
          </a:p>
        </p:txBody>
      </p:sp>
      <p:sp>
        <p:nvSpPr>
          <p:cNvPr id="69" name="row-debrief"/>
          <p:cNvSpPr/>
          <p:nvPr/>
        </p:nvSpPr>
        <p:spPr>
          <a:xfrm>
            <a:off x="457200" y="4663440"/>
            <a:ext cx="11274552" cy="420624"/>
          </a:xfrm>
          <a:prstGeom prst="roundRect">
            <a:avLst>
              <a:gd name="adj" fmla="val 13043"/>
            </a:avLst>
          </a:prstGeom>
          <a:ln w="12700">
            <a:solidFill>
              <a:schemeClr val="accent1"/>
            </a:solidFill>
            <a:prstDash val="dash"/>
          </a:ln>
        </p:spPr>
      </p:sp>
      <p:sp>
        <p:nvSpPr>
          <p:cNvPr id="70" name="Text 68"/>
          <p:cNvSpPr txBox="1"/>
          <p:nvPr/>
        </p:nvSpPr>
        <p:spPr>
          <a:xfrm>
            <a:off x="621792" y="4663440"/>
            <a:ext cx="1097280" cy="420624"/>
          </a:xfrm>
          <a:prstGeom prst="rect">
            <a:avLst/>
          </a:prstGeom>
          <a:noFill/>
          <a:ln/>
        </p:spPr>
        <p:txBody>
          <a:bodyPr wrap="square" lIns="0" tIns="0" rIns="0" bIns="0" rtlCol="0" anchor="ctr"/>
          <a:lstStyle/>
          <a:p>
            <a:pPr indent="0" marL="0">
              <a:buNone/>
            </a:pPr>
            <a:r>
              <a:rPr lang="en-US" sz="1300" b="1" dirty="0">
                <a:solidFill>
                  <a:schemeClr val="accent1"/>
                </a:solidFill>
              </a:rPr>
              <a:t>60′ →</a:t>
            </a:r>
            <a:endParaRPr lang="en-US" sz="1300" dirty="0"/>
          </a:p>
        </p:txBody>
      </p:sp>
      <p:sp>
        <p:nvSpPr>
          <p:cNvPr id="71" name="Text 69"/>
          <p:cNvSpPr txBox="1"/>
          <p:nvPr/>
        </p:nvSpPr>
        <p:spPr>
          <a:xfrm>
            <a:off x="1828800" y="4663440"/>
            <a:ext cx="2395728" cy="420624"/>
          </a:xfrm>
          <a:prstGeom prst="rect">
            <a:avLst/>
          </a:prstGeom>
          <a:noFill/>
          <a:ln/>
        </p:spPr>
        <p:txBody>
          <a:bodyPr wrap="square" lIns="0" tIns="0" rIns="0" bIns="0" rtlCol="0" anchor="ctr"/>
          <a:lstStyle/>
          <a:p>
            <a:pPr indent="0" marL="0">
              <a:buNone/>
            </a:pPr>
            <a:r>
              <a:rPr lang="en-US" sz="1400" b="1" dirty="0">
                <a:solidFill>
                  <a:schemeClr val="bg1"/>
                </a:solidFill>
                <a:latin typeface="Arial" pitchFamily="34" charset="0"/>
                <a:ea typeface="Arial" pitchFamily="34" charset="-122"/>
                <a:cs typeface="Arial" pitchFamily="34" charset="-120"/>
              </a:rPr>
              <a:t>Summit Debrief</a:t>
            </a:r>
            <a:endParaRPr lang="en-US" sz="1400" dirty="0"/>
          </a:p>
          <a:p>
            <a:pPr indent="0" marL="0">
              <a:buNone/>
            </a:pPr>
            <a:r>
              <a:rPr lang="en-US" sz="1100" dirty="0">
                <a:solidFill>
                  <a:schemeClr val="accent2"/>
                </a:solidFill>
              </a:rPr>
              <a:t>opens the wrap-up</a:t>
            </a:r>
            <a:endParaRPr lang="en-US" sz="1400" dirty="0"/>
          </a:p>
        </p:txBody>
      </p:sp>
      <p:sp>
        <p:nvSpPr>
          <p:cNvPr id="72" name="Text 70"/>
          <p:cNvSpPr txBox="1"/>
          <p:nvPr/>
        </p:nvSpPr>
        <p:spPr>
          <a:xfrm>
            <a:off x="4315968" y="4663440"/>
            <a:ext cx="4050792" cy="420624"/>
          </a:xfrm>
          <a:prstGeom prst="rect">
            <a:avLst/>
          </a:prstGeom>
          <a:noFill/>
          <a:ln/>
        </p:spPr>
        <p:txBody>
          <a:bodyPr wrap="square" lIns="0" tIns="0" rIns="0" bIns="0" rtlCol="0" anchor="ctr"/>
          <a:lstStyle/>
          <a:p>
            <a:pPr indent="0" marL="0">
              <a:buNone/>
            </a:pPr>
            <a:r>
              <a:rPr lang="en-US" sz="1300" dirty="0">
                <a:solidFill>
                  <a:schemeClr val="bg1"/>
                </a:solidFill>
              </a:rPr>
              <a:t>All rooms meet in the plenary. Each reads its card in 90 seconds; then one vote, three awards.</a:t>
            </a:r>
            <a:endParaRPr lang="en-US" sz="1300" dirty="0"/>
          </a:p>
        </p:txBody>
      </p:sp>
      <p:sp>
        <p:nvSpPr>
          <p:cNvPr id="73" name="Text 71"/>
          <p:cNvSpPr txBox="1"/>
          <p:nvPr/>
        </p:nvSpPr>
        <p:spPr>
          <a:xfrm>
            <a:off x="8641080" y="4663440"/>
            <a:ext cx="2953512" cy="420624"/>
          </a:xfrm>
          <a:prstGeom prst="rect">
            <a:avLst/>
          </a:prstGeom>
          <a:noFill/>
          <a:ln/>
        </p:spPr>
        <p:txBody>
          <a:bodyPr wrap="square" lIns="0" tIns="0" rIns="0" bIns="0" rtlCol="0" anchor="ctr"/>
          <a:lstStyle/>
          <a:p>
            <a:pPr indent="0" marL="0">
              <a:buNone/>
            </a:pPr>
            <a:r>
              <a:rPr lang="en-US" sz="1300" dirty="0">
                <a:solidFill>
                  <a:schemeClr val="bg1"/>
                </a:solidFill>
              </a:rPr>
              <a:t>Monday-morning pilot chosen by vote</a:t>
            </a:r>
            <a:endParaRPr lang="en-US" sz="1300" dirty="0"/>
          </a:p>
        </p:txBody>
      </p:sp>
      <p:sp>
        <p:nvSpPr>
          <p:cNvPr id="74" name="band-1"/>
          <p:cNvSpPr/>
          <p:nvPr/>
        </p:nvSpPr>
        <p:spPr>
          <a:xfrm>
            <a:off x="457200" y="5193792"/>
            <a:ext cx="3246120" cy="1152144"/>
          </a:xfrm>
          <a:prstGeom prst="roundRect">
            <a:avLst>
              <a:gd name="adj" fmla="val 6349"/>
            </a:avLst>
          </a:prstGeom>
          <a:solidFill>
            <a:schemeClr val="accent6"/>
          </a:solidFill>
          <a:ln/>
        </p:spPr>
      </p:sp>
      <p:sp>
        <p:nvSpPr>
          <p:cNvPr id="75" name="Text 73"/>
          <p:cNvSpPr txBox="1"/>
          <p:nvPr/>
        </p:nvSpPr>
        <p:spPr>
          <a:xfrm>
            <a:off x="640080" y="5303520"/>
            <a:ext cx="2880360" cy="219456"/>
          </a:xfrm>
          <a:prstGeom prst="rect">
            <a:avLst/>
          </a:prstGeom>
          <a:noFill/>
          <a:ln/>
        </p:spPr>
        <p:txBody>
          <a:bodyPr wrap="square" lIns="0" tIns="0" rIns="0" bIns="0" rtlCol="0" anchor="ctr"/>
          <a:lstStyle/>
          <a:p>
            <a:pPr indent="0" marL="0">
              <a:buNone/>
            </a:pPr>
            <a:r>
              <a:rPr lang="en-US" sz="1100" b="1" spc="100" kern="0" dirty="0">
                <a:solidFill>
                  <a:schemeClr val="accent2"/>
                </a:solidFill>
              </a:rPr>
              <a:t>WHO IS IN EVERY ROOM</a:t>
            </a:r>
            <a:endParaRPr lang="en-US" sz="1100" dirty="0"/>
          </a:p>
        </p:txBody>
      </p:sp>
      <p:sp>
        <p:nvSpPr>
          <p:cNvPr id="76" name="Text 74"/>
          <p:cNvSpPr txBox="1"/>
          <p:nvPr/>
        </p:nvSpPr>
        <p:spPr>
          <a:xfrm>
            <a:off x="640080" y="5577840"/>
            <a:ext cx="2971800" cy="694944"/>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chemeClr val="bg1"/>
                </a:solidFill>
              </a:rPr>
              <a:t>5–8 people, mixed experience</a:t>
            </a:r>
            <a:endParaRPr lang="en-US" sz="1300" dirty="0"/>
          </a:p>
          <a:p>
            <a:pPr marL="177800" indent="-177800">
              <a:spcAft>
                <a:spcPts val="200"/>
              </a:spcAft>
              <a:buSzPct val="100000"/>
              <a:buChar char="•"/>
            </a:pPr>
            <a:r>
              <a:rPr lang="en-US" sz="1300" dirty="0">
                <a:solidFill>
                  <a:schemeClr val="bg1"/>
                </a:solidFill>
              </a:rPr>
              <a:t>Facilitator: runs process and clock</a:t>
            </a:r>
            <a:endParaRPr lang="en-US" sz="1300" dirty="0"/>
          </a:p>
          <a:p>
            <a:pPr marL="177800" indent="-177800">
              <a:spcAft>
                <a:spcPts val="200"/>
              </a:spcAft>
              <a:buSzPct val="100000"/>
              <a:buChar char="•"/>
            </a:pPr>
            <a:r>
              <a:rPr lang="en-US" sz="1300" dirty="0">
                <a:solidFill>
                  <a:schemeClr val="bg1"/>
                </a:solidFill>
              </a:rPr>
              <a:t>Builder: builds the agent on screen</a:t>
            </a:r>
            <a:endParaRPr lang="en-US" sz="1300" dirty="0"/>
          </a:p>
        </p:txBody>
      </p:sp>
      <p:sp>
        <p:nvSpPr>
          <p:cNvPr id="77" name="band-2"/>
          <p:cNvSpPr/>
          <p:nvPr/>
        </p:nvSpPr>
        <p:spPr>
          <a:xfrm>
            <a:off x="3886200" y="5193792"/>
            <a:ext cx="3246120" cy="1152144"/>
          </a:xfrm>
          <a:prstGeom prst="roundRect">
            <a:avLst>
              <a:gd name="adj" fmla="val 6349"/>
            </a:avLst>
          </a:prstGeom>
          <a:solidFill>
            <a:schemeClr val="accent6"/>
          </a:solidFill>
          <a:ln/>
        </p:spPr>
      </p:sp>
      <p:sp>
        <p:nvSpPr>
          <p:cNvPr id="78" name="Text 76"/>
          <p:cNvSpPr txBox="1"/>
          <p:nvPr/>
        </p:nvSpPr>
        <p:spPr>
          <a:xfrm>
            <a:off x="4069080" y="5303520"/>
            <a:ext cx="2880360" cy="219456"/>
          </a:xfrm>
          <a:prstGeom prst="rect">
            <a:avLst/>
          </a:prstGeom>
          <a:noFill/>
          <a:ln/>
        </p:spPr>
        <p:txBody>
          <a:bodyPr wrap="square" lIns="0" tIns="0" rIns="0" bIns="0" rtlCol="0" anchor="ctr"/>
          <a:lstStyle/>
          <a:p>
            <a:pPr indent="0" marL="0">
              <a:buNone/>
            </a:pPr>
            <a:r>
              <a:rPr lang="en-US" sz="1100" b="1" spc="100" kern="0" dirty="0">
                <a:solidFill>
                  <a:schemeClr val="accent1"/>
                </a:solidFill>
              </a:rPr>
              <a:t>WHAT EVERY ROOM NEEDS</a:t>
            </a:r>
            <a:endParaRPr lang="en-US" sz="1100" dirty="0"/>
          </a:p>
        </p:txBody>
      </p:sp>
      <p:sp>
        <p:nvSpPr>
          <p:cNvPr id="79" name="Text 77"/>
          <p:cNvSpPr txBox="1"/>
          <p:nvPr/>
        </p:nvSpPr>
        <p:spPr>
          <a:xfrm>
            <a:off x="4069080" y="5577840"/>
            <a:ext cx="2971800" cy="694944"/>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chemeClr val="bg1"/>
                </a:solidFill>
              </a:rPr>
              <a:t>A space close to the plenary</a:t>
            </a:r>
            <a:endParaRPr lang="en-US" sz="1300" dirty="0"/>
          </a:p>
          <a:p>
            <a:pPr marL="177800" indent="-177800">
              <a:spcAft>
                <a:spcPts val="200"/>
              </a:spcAft>
              <a:buSzPct val="100000"/>
              <a:buChar char="•"/>
            </a:pPr>
            <a:r>
              <a:rPr lang="en-US" sz="1300" dirty="0">
                <a:solidFill>
                  <a:schemeClr val="bg1"/>
                </a:solidFill>
              </a:rPr>
              <a:t>Screen, network, capture link</a:t>
            </a:r>
            <a:endParaRPr lang="en-US" sz="1300" dirty="0"/>
          </a:p>
          <a:p>
            <a:pPr marL="177800" indent="-177800">
              <a:spcAft>
                <a:spcPts val="200"/>
              </a:spcAft>
              <a:buSzPct val="100000"/>
              <a:buChar char="•"/>
            </a:pPr>
            <a:r>
              <a:rPr lang="en-US" sz="1300" dirty="0">
                <a:solidFill>
                  <a:schemeClr val="bg1"/>
                </a:solidFill>
              </a:rPr>
              <a:t>Printed case file and Pilot Pack</a:t>
            </a:r>
            <a:endParaRPr lang="en-US" sz="1300" dirty="0"/>
          </a:p>
        </p:txBody>
      </p:sp>
      <p:sp>
        <p:nvSpPr>
          <p:cNvPr id="80" name="band-3"/>
          <p:cNvSpPr/>
          <p:nvPr/>
        </p:nvSpPr>
        <p:spPr>
          <a:xfrm>
            <a:off x="7315200" y="5193792"/>
            <a:ext cx="4416552" cy="1152144"/>
          </a:xfrm>
          <a:prstGeom prst="roundRect">
            <a:avLst>
              <a:gd name="adj" fmla="val 6349"/>
            </a:avLst>
          </a:prstGeom>
          <a:solidFill>
            <a:schemeClr val="accent6"/>
          </a:solidFill>
          <a:ln/>
        </p:spPr>
      </p:sp>
      <p:sp>
        <p:nvSpPr>
          <p:cNvPr id="81" name="Text 79"/>
          <p:cNvSpPr txBox="1"/>
          <p:nvPr/>
        </p:nvSpPr>
        <p:spPr>
          <a:xfrm>
            <a:off x="7498080" y="5303520"/>
            <a:ext cx="4050792" cy="219456"/>
          </a:xfrm>
          <a:prstGeom prst="rect">
            <a:avLst/>
          </a:prstGeom>
          <a:noFill/>
          <a:ln/>
        </p:spPr>
        <p:txBody>
          <a:bodyPr wrap="square" lIns="0" tIns="0" rIns="0" bIns="0" rtlCol="0" anchor="ctr"/>
          <a:lstStyle/>
          <a:p>
            <a:pPr indent="0" marL="0">
              <a:buNone/>
            </a:pPr>
            <a:r>
              <a:rPr lang="en-US" sz="1100" b="1" spc="100" kern="0" dirty="0">
                <a:solidFill>
                  <a:schemeClr val="accent3"/>
                </a:solidFill>
              </a:rPr>
              <a:t>IF SOMETHING GOES WRONG</a:t>
            </a:r>
            <a:endParaRPr lang="en-US" sz="1100" dirty="0"/>
          </a:p>
        </p:txBody>
      </p:sp>
      <p:sp>
        <p:nvSpPr>
          <p:cNvPr id="82" name="Text 80"/>
          <p:cNvSpPr txBox="1"/>
          <p:nvPr/>
        </p:nvSpPr>
        <p:spPr>
          <a:xfrm>
            <a:off x="7498080" y="5577840"/>
            <a:ext cx="4142232" cy="694944"/>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chemeClr val="bg1"/>
                </a:solidFill>
              </a:rPr>
              <a:t>Tool down over 3 min → “Be the agent” paper test</a:t>
            </a:r>
            <a:endParaRPr lang="en-US" sz="1300" dirty="0"/>
          </a:p>
          <a:p>
            <a:pPr marL="177800" indent="-177800">
              <a:spcAft>
                <a:spcPts val="200"/>
              </a:spcAft>
              <a:buSzPct val="100000"/>
              <a:buChar char="•"/>
            </a:pPr>
            <a:r>
              <a:rPr lang="en-US" sz="1300" dirty="0">
                <a:solidFill>
                  <a:schemeClr val="bg1"/>
                </a:solidFill>
              </a:rPr>
              <a:t>Behind at 50′ → cut detail, keep owner and guardrail</a:t>
            </a:r>
            <a:endParaRPr lang="en-US" sz="1300" dirty="0"/>
          </a:p>
          <a:p>
            <a:pPr marL="177800" indent="-177800">
              <a:spcAft>
                <a:spcPts val="200"/>
              </a:spcAft>
              <a:buSzPct val="100000"/>
              <a:buChar char="•"/>
            </a:pPr>
            <a:r>
              <a:rPr lang="en-US" sz="1300" dirty="0">
                <a:solidFill>
                  <a:schemeClr val="bg1"/>
                </a:solidFill>
              </a:rPr>
              <a:t>Facilitator missing → the Scribe runs the room</a:t>
            </a:r>
            <a:endParaRPr lang="en-US" sz="1300" dirty="0"/>
          </a:p>
        </p:txBody>
      </p:sp>
      <p:sp>
        <p:nvSpPr>
          <p:cNvPr id="25" name="Slide Number Placeholder 0"/>
          <p:cNvSpPr>
            <a:spLocks noGrp="1"/>
          </p:cNvSpPr>
          <p:nvPr>
            <p:ph type="sldNum" sz="quarter" idx="4294967295"/>
          </p:nvPr>
        </p:nvSpPr>
        <p:spPr>
          <a:xfrm>
            <a:off x="11274552" y="6437376"/>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CCD"/>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457200" y="292608"/>
            <a:ext cx="804672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FAQ · FOR REGIONAL MODERATORS AND SITE OWNERS</a:t>
            </a:r>
            <a:endParaRPr lang="en-US" sz="1100" dirty="0"/>
          </a:p>
        </p:txBody>
      </p:sp>
      <p:sp>
        <p:nvSpPr>
          <p:cNvPr id="3" name="Text 1"/>
          <p:cNvSpPr/>
          <p:nvPr>
            <p:ph idx="104" type="title" hasCustomPrompt="1"/>
          </p:nvPr>
        </p:nvSpPr>
        <p:spPr>
          <a:xfrm>
            <a:off x="457200" y="548640"/>
            <a:ext cx="8001000" cy="548640"/>
          </a:xfrm>
          <a:prstGeom prst="rect">
            <a:avLst/>
          </a:prstGeom>
          <a:noFill/>
          <a:ln/>
        </p:spPr>
        <p:txBody>
          <a:bodyPr wrap="square" lIns="0" tIns="0" rIns="0" bIns="0" rtlCol="0" anchor="ctr"/>
          <a:lstStyle/>
          <a:p>
            <a:pPr algn="l" indent="0" marL="0">
              <a:buNone/>
            </a:pPr>
            <a:r>
              <a:rPr lang="en-US" sz="2700" b="1" dirty="0">
                <a:solidFill>
                  <a:schemeClr val="bg1"/>
                </a:solidFill>
              </a:rPr>
              <a:t>Frequently asked questions</a:t>
            </a:r>
            <a:endParaRPr lang="en-US" sz="2700" dirty="0"/>
          </a:p>
        </p:txBody>
      </p:sp>
      <p:sp>
        <p:nvSpPr>
          <p:cNvPr id="4" name="Text 1"/>
          <p:cNvSpPr/>
          <p:nvPr>
            <p:ph idx="105" type="body" hasCustomPrompt="1"/>
          </p:nvPr>
        </p:nvSpPr>
        <p:spPr>
          <a:xfrm>
            <a:off x="457200" y="1097280"/>
            <a:ext cx="8046720" cy="310896"/>
          </a:xfrm>
          <a:prstGeom prst="rect">
            <a:avLst/>
          </a:prstGeom>
          <a:noFill/>
          <a:ln/>
        </p:spPr>
        <p:txBody>
          <a:bodyPr wrap="square" lIns="0" tIns="0" rIns="0" bIns="0" rtlCol="0" anchor="t"/>
          <a:lstStyle/>
          <a:p>
            <a:pPr algn="l" indent="0" marL="0">
              <a:buNone/>
            </a:pPr>
            <a:r>
              <a:rPr lang="en-US" sz="1400" dirty="0">
                <a:solidFill>
                  <a:schemeClr val="bg2"/>
                </a:solidFill>
              </a:rPr>
              <a:t>Left: before the summit. Right: on the day and after.</a:t>
            </a:r>
            <a:endParaRPr lang="en-US" sz="1400" dirty="0"/>
          </a:p>
        </p:txBody>
      </p:sp>
      <p:sp>
        <p:nvSpPr>
          <p:cNvPr id="5" name="faq-1"/>
          <p:cNvSpPr/>
          <p:nvPr/>
        </p:nvSpPr>
        <p:spPr>
          <a:xfrm>
            <a:off x="457200" y="1572768"/>
            <a:ext cx="5522976" cy="731520"/>
          </a:xfrm>
          <a:prstGeom prst="roundRect">
            <a:avLst>
              <a:gd name="adj" fmla="val 7500"/>
            </a:avLst>
          </a:prstGeom>
          <a:solidFill>
            <a:schemeClr val="tx2"/>
          </a:solidFill>
          <a:ln/>
        </p:spPr>
      </p:sp>
      <p:sp>
        <p:nvSpPr>
          <p:cNvPr id="6" name="Shape 4"/>
          <p:cNvSpPr/>
          <p:nvPr/>
        </p:nvSpPr>
        <p:spPr>
          <a:xfrm>
            <a:off x="594360" y="1664208"/>
            <a:ext cx="274320" cy="274320"/>
          </a:xfrm>
          <a:prstGeom prst="ellipse">
            <a:avLst/>
          </a:prstGeom>
          <a:solidFill>
            <a:schemeClr val="accent1"/>
          </a:solidFill>
          <a:ln/>
        </p:spPr>
      </p:sp>
      <p:sp>
        <p:nvSpPr>
          <p:cNvPr id="7" name="Text 5"/>
          <p:cNvSpPr txBox="1"/>
          <p:nvPr/>
        </p:nvSpPr>
        <p:spPr>
          <a:xfrm>
            <a:off x="594360" y="1664208"/>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q-1"/>
          <p:cNvSpPr txBox="1"/>
          <p:nvPr/>
        </p:nvSpPr>
        <p:spPr>
          <a:xfrm>
            <a:off x="987552" y="1655064"/>
            <a:ext cx="4837176" cy="256032"/>
          </a:xfrm>
          <a:prstGeom prst="rect">
            <a:avLst/>
          </a:prstGeom>
          <a:noFill/>
          <a:ln/>
        </p:spPr>
        <p:txBody>
          <a:bodyPr wrap="square" lIns="0" tIns="0" rIns="0" bIns="0" rtlCol="0" anchor="ctr"/>
          <a:lstStyle/>
          <a:p>
            <a:pPr indent="0" marL="0">
              <a:buNone/>
            </a:pPr>
            <a:r>
              <a:rPr lang="en-US" sz="1400" b="1" dirty="0">
                <a:solidFill>
                  <a:schemeClr val="accent1"/>
                </a:solidFill>
              </a:rPr>
              <a:t>How are people assigned to rooms?</a:t>
            </a:r>
            <a:endParaRPr lang="en-US" sz="1400" dirty="0"/>
          </a:p>
        </p:txBody>
      </p:sp>
      <p:sp>
        <p:nvSpPr>
          <p:cNvPr id="9" name="a-1"/>
          <p:cNvSpPr txBox="1"/>
          <p:nvPr/>
        </p:nvSpPr>
        <p:spPr>
          <a:xfrm>
            <a:off x="987552" y="1901952"/>
            <a:ext cx="4837176" cy="365760"/>
          </a:xfrm>
          <a:prstGeom prst="rect">
            <a:avLst/>
          </a:prstGeom>
          <a:noFill/>
          <a:ln/>
        </p:spPr>
        <p:txBody>
          <a:bodyPr wrap="square" lIns="0" tIns="0" rIns="0" bIns="0" rtlCol="0" anchor="t"/>
          <a:lstStyle/>
          <a:p>
            <a:pPr indent="0" marL="0">
              <a:buNone/>
            </a:pPr>
            <a:r>
              <a:rPr lang="en-US" sz="1300" dirty="0">
                <a:solidFill>
                  <a:schemeClr val="bg1"/>
                </a:solidFill>
              </a:rPr>
              <a:t>Upfront, by the regional lead, final on 26 Oct. The invitation (29 Oct) names each person’s room and case file, C1–C6.</a:t>
            </a:r>
            <a:endParaRPr lang="en-US" sz="1300" dirty="0"/>
          </a:p>
        </p:txBody>
      </p:sp>
      <p:sp>
        <p:nvSpPr>
          <p:cNvPr id="10" name="faq-2"/>
          <p:cNvSpPr/>
          <p:nvPr/>
        </p:nvSpPr>
        <p:spPr>
          <a:xfrm>
            <a:off x="457200" y="2377440"/>
            <a:ext cx="5522976" cy="731520"/>
          </a:xfrm>
          <a:prstGeom prst="roundRect">
            <a:avLst>
              <a:gd name="adj" fmla="val 7500"/>
            </a:avLst>
          </a:prstGeom>
          <a:solidFill>
            <a:schemeClr val="tx2"/>
          </a:solidFill>
          <a:ln/>
        </p:spPr>
      </p:sp>
      <p:sp>
        <p:nvSpPr>
          <p:cNvPr id="11" name="Shape 9"/>
          <p:cNvSpPr/>
          <p:nvPr/>
        </p:nvSpPr>
        <p:spPr>
          <a:xfrm>
            <a:off x="594360" y="2468880"/>
            <a:ext cx="274320" cy="274320"/>
          </a:xfrm>
          <a:prstGeom prst="ellipse">
            <a:avLst/>
          </a:prstGeom>
          <a:solidFill>
            <a:schemeClr val="accent1"/>
          </a:solidFill>
          <a:ln/>
        </p:spPr>
      </p:sp>
      <p:sp>
        <p:nvSpPr>
          <p:cNvPr id="12" name="Text 10"/>
          <p:cNvSpPr txBox="1"/>
          <p:nvPr/>
        </p:nvSpPr>
        <p:spPr>
          <a:xfrm>
            <a:off x="594360" y="246888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3" name="q-2"/>
          <p:cNvSpPr txBox="1"/>
          <p:nvPr/>
        </p:nvSpPr>
        <p:spPr>
          <a:xfrm>
            <a:off x="987552" y="2459736"/>
            <a:ext cx="4837176" cy="256032"/>
          </a:xfrm>
          <a:prstGeom prst="rect">
            <a:avLst/>
          </a:prstGeom>
          <a:noFill/>
          <a:ln/>
        </p:spPr>
        <p:txBody>
          <a:bodyPr wrap="square" lIns="0" tIns="0" rIns="0" bIns="0" rtlCol="0" anchor="ctr"/>
          <a:lstStyle/>
          <a:p>
            <a:pPr indent="0" marL="0">
              <a:buNone/>
            </a:pPr>
            <a:r>
              <a:rPr lang="en-US" sz="1400" b="1" dirty="0">
                <a:solidFill>
                  <a:schemeClr val="accent1"/>
                </a:solidFill>
              </a:rPr>
              <a:t>What must participants do before 5 November?</a:t>
            </a:r>
            <a:endParaRPr lang="en-US" sz="1400" dirty="0"/>
          </a:p>
        </p:txBody>
      </p:sp>
      <p:sp>
        <p:nvSpPr>
          <p:cNvPr id="14" name="a-2"/>
          <p:cNvSpPr txBox="1"/>
          <p:nvPr/>
        </p:nvSpPr>
        <p:spPr>
          <a:xfrm>
            <a:off x="987552" y="2706624"/>
            <a:ext cx="4837176" cy="365760"/>
          </a:xfrm>
          <a:prstGeom prst="rect">
            <a:avLst/>
          </a:prstGeom>
          <a:noFill/>
          <a:ln/>
        </p:spPr>
        <p:txBody>
          <a:bodyPr wrap="square" lIns="0" tIns="0" rIns="0" bIns="0" rtlCol="0" anchor="t"/>
          <a:lstStyle/>
          <a:p>
            <a:pPr indent="0" marL="0">
              <a:buNone/>
            </a:pPr>
            <a:r>
              <a:rPr lang="en-US" sz="1300" dirty="0">
                <a:solidFill>
                  <a:schemeClr val="bg1"/>
                </a:solidFill>
              </a:rPr>
              <a:t>Read the story and their case file, map their own week, bring one idea. Done by Tue 3 Nov; nothing to prepare on the day.</a:t>
            </a:r>
            <a:endParaRPr lang="en-US" sz="1300" dirty="0"/>
          </a:p>
        </p:txBody>
      </p:sp>
      <p:sp>
        <p:nvSpPr>
          <p:cNvPr id="15" name="faq-3"/>
          <p:cNvSpPr/>
          <p:nvPr/>
        </p:nvSpPr>
        <p:spPr>
          <a:xfrm>
            <a:off x="457200" y="3182112"/>
            <a:ext cx="5522976" cy="731520"/>
          </a:xfrm>
          <a:prstGeom prst="roundRect">
            <a:avLst>
              <a:gd name="adj" fmla="val 7500"/>
            </a:avLst>
          </a:prstGeom>
          <a:solidFill>
            <a:schemeClr val="tx2"/>
          </a:solidFill>
          <a:ln/>
        </p:spPr>
      </p:sp>
      <p:sp>
        <p:nvSpPr>
          <p:cNvPr id="16" name="Shape 14"/>
          <p:cNvSpPr/>
          <p:nvPr/>
        </p:nvSpPr>
        <p:spPr>
          <a:xfrm>
            <a:off x="594360" y="3273552"/>
            <a:ext cx="274320" cy="274320"/>
          </a:xfrm>
          <a:prstGeom prst="ellipse">
            <a:avLst/>
          </a:prstGeom>
          <a:solidFill>
            <a:schemeClr val="accent1"/>
          </a:solidFill>
          <a:ln/>
        </p:spPr>
      </p:sp>
      <p:sp>
        <p:nvSpPr>
          <p:cNvPr id="17" name="Text 15"/>
          <p:cNvSpPr txBox="1"/>
          <p:nvPr/>
        </p:nvSpPr>
        <p:spPr>
          <a:xfrm>
            <a:off x="594360" y="3273552"/>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18" name="q-3"/>
          <p:cNvSpPr txBox="1"/>
          <p:nvPr/>
        </p:nvSpPr>
        <p:spPr>
          <a:xfrm>
            <a:off x="987552" y="3264408"/>
            <a:ext cx="4837176" cy="256032"/>
          </a:xfrm>
          <a:prstGeom prst="rect">
            <a:avLst/>
          </a:prstGeom>
          <a:noFill/>
          <a:ln/>
        </p:spPr>
        <p:txBody>
          <a:bodyPr wrap="square" lIns="0" tIns="0" rIns="0" bIns="0" rtlCol="0" anchor="ctr"/>
          <a:lstStyle/>
          <a:p>
            <a:pPr indent="0" marL="0">
              <a:buNone/>
            </a:pPr>
            <a:r>
              <a:rPr lang="en-US" sz="1400" b="1" dirty="0">
                <a:solidFill>
                  <a:schemeClr val="accent1"/>
                </a:solidFill>
              </a:rPr>
              <a:t>Do participants need AI experience?</a:t>
            </a:r>
            <a:endParaRPr lang="en-US" sz="1400" dirty="0"/>
          </a:p>
        </p:txBody>
      </p:sp>
      <p:sp>
        <p:nvSpPr>
          <p:cNvPr id="19" name="a-3"/>
          <p:cNvSpPr txBox="1"/>
          <p:nvPr/>
        </p:nvSpPr>
        <p:spPr>
          <a:xfrm>
            <a:off x="987552" y="3511296"/>
            <a:ext cx="4837176" cy="365760"/>
          </a:xfrm>
          <a:prstGeom prst="rect">
            <a:avLst/>
          </a:prstGeom>
          <a:noFill/>
          <a:ln/>
        </p:spPr>
        <p:txBody>
          <a:bodyPr wrap="square" lIns="0" tIns="0" rIns="0" bIns="0" rtlCol="0" anchor="t"/>
          <a:lstStyle/>
          <a:p>
            <a:pPr indent="0" marL="0">
              <a:buNone/>
            </a:pPr>
            <a:r>
              <a:rPr lang="en-US" sz="1300" dirty="0">
                <a:solidFill>
                  <a:schemeClr val="bg1"/>
                </a:solidFill>
              </a:rPr>
              <a:t>No. Each room needs one Builder with Agent Builder in Copilot Premium. Everyone else brings ideas and project experience.</a:t>
            </a:r>
            <a:endParaRPr lang="en-US" sz="1300" dirty="0"/>
          </a:p>
        </p:txBody>
      </p:sp>
      <p:sp>
        <p:nvSpPr>
          <p:cNvPr id="20" name="faq-4"/>
          <p:cNvSpPr/>
          <p:nvPr/>
        </p:nvSpPr>
        <p:spPr>
          <a:xfrm>
            <a:off x="457200" y="3986784"/>
            <a:ext cx="5522976" cy="731520"/>
          </a:xfrm>
          <a:prstGeom prst="roundRect">
            <a:avLst>
              <a:gd name="adj" fmla="val 7500"/>
            </a:avLst>
          </a:prstGeom>
          <a:solidFill>
            <a:schemeClr val="tx2"/>
          </a:solidFill>
          <a:ln/>
        </p:spPr>
      </p:sp>
      <p:sp>
        <p:nvSpPr>
          <p:cNvPr id="21" name="Shape 19"/>
          <p:cNvSpPr/>
          <p:nvPr/>
        </p:nvSpPr>
        <p:spPr>
          <a:xfrm>
            <a:off x="594360" y="4078224"/>
            <a:ext cx="274320" cy="274320"/>
          </a:xfrm>
          <a:prstGeom prst="ellipse">
            <a:avLst/>
          </a:prstGeom>
          <a:solidFill>
            <a:schemeClr val="accent1"/>
          </a:solidFill>
          <a:ln/>
        </p:spPr>
      </p:sp>
      <p:sp>
        <p:nvSpPr>
          <p:cNvPr id="22" name="Text 20"/>
          <p:cNvSpPr txBox="1"/>
          <p:nvPr/>
        </p:nvSpPr>
        <p:spPr>
          <a:xfrm>
            <a:off x="594360" y="4078224"/>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3" name="q-4"/>
          <p:cNvSpPr txBox="1"/>
          <p:nvPr/>
        </p:nvSpPr>
        <p:spPr>
          <a:xfrm>
            <a:off x="987552" y="4069080"/>
            <a:ext cx="4837176" cy="256032"/>
          </a:xfrm>
          <a:prstGeom prst="rect">
            <a:avLst/>
          </a:prstGeom>
          <a:noFill/>
          <a:ln/>
        </p:spPr>
        <p:txBody>
          <a:bodyPr wrap="square" lIns="0" tIns="0" rIns="0" bIns="0" rtlCol="0" anchor="ctr"/>
          <a:lstStyle/>
          <a:p>
            <a:pPr indent="0" marL="0">
              <a:buNone/>
            </a:pPr>
            <a:r>
              <a:rPr lang="en-US" sz="1400" b="1" dirty="0">
                <a:solidFill>
                  <a:schemeClr val="accent1"/>
                </a:solidFill>
              </a:rPr>
              <a:t>What if a Builder doesn’t have Agent Builder yet?</a:t>
            </a:r>
            <a:endParaRPr lang="en-US" sz="1400" dirty="0"/>
          </a:p>
        </p:txBody>
      </p:sp>
      <p:sp>
        <p:nvSpPr>
          <p:cNvPr id="24" name="a-4"/>
          <p:cNvSpPr txBox="1"/>
          <p:nvPr/>
        </p:nvSpPr>
        <p:spPr>
          <a:xfrm>
            <a:off x="987552" y="4315968"/>
            <a:ext cx="4837176" cy="365760"/>
          </a:xfrm>
          <a:prstGeom prst="rect">
            <a:avLst/>
          </a:prstGeom>
          <a:noFill/>
          <a:ln/>
        </p:spPr>
        <p:txBody>
          <a:bodyPr wrap="square" lIns="0" tIns="0" rIns="0" bIns="0" rtlCol="0" anchor="t"/>
          <a:lstStyle/>
          <a:p>
            <a:pPr indent="0" marL="0">
              <a:buNone/>
            </a:pPr>
            <a:r>
              <a:rPr lang="en-US" sz="1300" dirty="0">
                <a:solidFill>
                  <a:schemeClr val="bg1"/>
                </a:solidFill>
              </a:rPr>
              <a:t>Request it at </a:t>
            </a:r>
            <a:pPr indent="0" marL="0">
              <a:buNone/>
            </a:pPr>
            <a:r>
              <a:rPr lang="en-US" sz="1300" u="sng" dirty="0">
                <a:solidFill>
                  <a:schemeClr val="accent2"/>
                </a:solidFill>
                <a:hlinkClick r:id="rId1" invalidUrl="" action="" tgtFrame="" tooltip="" history="1" highlightClick="0" endSnd="0">
                  <a:extLst>
                    <a:ext uri="{A12FA001-AC4F-418D-AE19-62706E023703}">
                      <ahyp:hlinkClr xmlns:ahyp="http://schemas.microsoft.com/office/drawing/2018/hyperlinkcolor" val="tx"/>
                    </a:ext>
                  </a:extLst>
                </a:hlinkClick>
              </a:rPr>
              <a:t>forms.cloud.microsoft/e/KjfvXMztWp</a:t>
            </a:r>
            <a:pPr indent="0" marL="0">
              <a:buNone/>
            </a:pPr>
            <a:r>
              <a:rPr lang="en-US" sz="1300" dirty="0">
                <a:solidFill>
                  <a:schemeClr val="bg1"/>
                </a:solidFill>
              </a:rPr>
              <a:t> and confirm access by 3 Nov. In the room, the paper test is the fallback.</a:t>
            </a:r>
            <a:endParaRPr lang="en-US" sz="1300" dirty="0"/>
          </a:p>
        </p:txBody>
      </p:sp>
      <p:sp>
        <p:nvSpPr>
          <p:cNvPr id="25" name="faq-5"/>
          <p:cNvSpPr/>
          <p:nvPr/>
        </p:nvSpPr>
        <p:spPr>
          <a:xfrm>
            <a:off x="457200" y="4791456"/>
            <a:ext cx="5522976" cy="731520"/>
          </a:xfrm>
          <a:prstGeom prst="roundRect">
            <a:avLst>
              <a:gd name="adj" fmla="val 7500"/>
            </a:avLst>
          </a:prstGeom>
          <a:solidFill>
            <a:schemeClr val="tx2"/>
          </a:solidFill>
          <a:ln/>
        </p:spPr>
      </p:sp>
      <p:sp>
        <p:nvSpPr>
          <p:cNvPr id="26" name="Shape 24"/>
          <p:cNvSpPr/>
          <p:nvPr/>
        </p:nvSpPr>
        <p:spPr>
          <a:xfrm>
            <a:off x="594360" y="4882896"/>
            <a:ext cx="274320" cy="274320"/>
          </a:xfrm>
          <a:prstGeom prst="ellipse">
            <a:avLst/>
          </a:prstGeom>
          <a:solidFill>
            <a:schemeClr val="accent1"/>
          </a:solidFill>
          <a:ln/>
        </p:spPr>
      </p:sp>
      <p:sp>
        <p:nvSpPr>
          <p:cNvPr id="27" name="Text 25"/>
          <p:cNvSpPr txBox="1"/>
          <p:nvPr/>
        </p:nvSpPr>
        <p:spPr>
          <a:xfrm>
            <a:off x="594360" y="4882896"/>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28" name="q-5"/>
          <p:cNvSpPr txBox="1"/>
          <p:nvPr/>
        </p:nvSpPr>
        <p:spPr>
          <a:xfrm>
            <a:off x="987552" y="4873752"/>
            <a:ext cx="4837176" cy="256032"/>
          </a:xfrm>
          <a:prstGeom prst="rect">
            <a:avLst/>
          </a:prstGeom>
          <a:noFill/>
          <a:ln/>
        </p:spPr>
        <p:txBody>
          <a:bodyPr wrap="square" lIns="0" tIns="0" rIns="0" bIns="0" rtlCol="0" anchor="ctr"/>
          <a:lstStyle/>
          <a:p>
            <a:pPr indent="0" marL="0">
              <a:buNone/>
            </a:pPr>
            <a:r>
              <a:rPr lang="en-US" sz="1400" b="1" dirty="0">
                <a:solidFill>
                  <a:schemeClr val="accent1"/>
                </a:solidFill>
              </a:rPr>
              <a:t>Who runs each room?</a:t>
            </a:r>
            <a:endParaRPr lang="en-US" sz="1400" dirty="0"/>
          </a:p>
        </p:txBody>
      </p:sp>
      <p:sp>
        <p:nvSpPr>
          <p:cNvPr id="29" name="a-5"/>
          <p:cNvSpPr txBox="1"/>
          <p:nvPr/>
        </p:nvSpPr>
        <p:spPr>
          <a:xfrm>
            <a:off x="987552" y="5120640"/>
            <a:ext cx="4837176" cy="365760"/>
          </a:xfrm>
          <a:prstGeom prst="rect">
            <a:avLst/>
          </a:prstGeom>
          <a:noFill/>
          <a:ln/>
        </p:spPr>
        <p:txBody>
          <a:bodyPr wrap="square" lIns="0" tIns="0" rIns="0" bIns="0" rtlCol="0" anchor="t"/>
          <a:lstStyle/>
          <a:p>
            <a:pPr indent="0" marL="0">
              <a:buNone/>
            </a:pPr>
            <a:r>
              <a:rPr lang="en-US" sz="1300" dirty="0">
                <a:solidFill>
                  <a:schemeClr val="bg1"/>
                </a:solidFill>
              </a:rPr>
              <a:t>A facilitator named by the regional lead. They run the process and the clock, need no AI expertise, and are briefed on 23 Oct.</a:t>
            </a:r>
            <a:endParaRPr lang="en-US" sz="1300" dirty="0"/>
          </a:p>
        </p:txBody>
      </p:sp>
      <p:sp>
        <p:nvSpPr>
          <p:cNvPr id="30" name="faq-6"/>
          <p:cNvSpPr/>
          <p:nvPr/>
        </p:nvSpPr>
        <p:spPr>
          <a:xfrm>
            <a:off x="457200" y="5596128"/>
            <a:ext cx="5522976" cy="731520"/>
          </a:xfrm>
          <a:prstGeom prst="roundRect">
            <a:avLst>
              <a:gd name="adj" fmla="val 7500"/>
            </a:avLst>
          </a:prstGeom>
          <a:solidFill>
            <a:schemeClr val="tx2"/>
          </a:solidFill>
          <a:ln/>
        </p:spPr>
      </p:sp>
      <p:sp>
        <p:nvSpPr>
          <p:cNvPr id="31" name="Shape 29"/>
          <p:cNvSpPr/>
          <p:nvPr/>
        </p:nvSpPr>
        <p:spPr>
          <a:xfrm>
            <a:off x="594360" y="5687568"/>
            <a:ext cx="274320" cy="274320"/>
          </a:xfrm>
          <a:prstGeom prst="ellipse">
            <a:avLst/>
          </a:prstGeom>
          <a:solidFill>
            <a:schemeClr val="accent1"/>
          </a:solidFill>
          <a:ln/>
        </p:spPr>
      </p:sp>
      <p:sp>
        <p:nvSpPr>
          <p:cNvPr id="32" name="Text 30"/>
          <p:cNvSpPr txBox="1"/>
          <p:nvPr/>
        </p:nvSpPr>
        <p:spPr>
          <a:xfrm>
            <a:off x="594360" y="5687568"/>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33" name="q-6"/>
          <p:cNvSpPr txBox="1"/>
          <p:nvPr/>
        </p:nvSpPr>
        <p:spPr>
          <a:xfrm>
            <a:off x="987552" y="5678424"/>
            <a:ext cx="4837176" cy="256032"/>
          </a:xfrm>
          <a:prstGeom prst="rect">
            <a:avLst/>
          </a:prstGeom>
          <a:noFill/>
          <a:ln/>
        </p:spPr>
        <p:txBody>
          <a:bodyPr wrap="square" lIns="0" tIns="0" rIns="0" bIns="0" rtlCol="0" anchor="ctr"/>
          <a:lstStyle/>
          <a:p>
            <a:pPr indent="0" marL="0">
              <a:buNone/>
            </a:pPr>
            <a:r>
              <a:rPr lang="en-US" sz="1400" b="1" dirty="0">
                <a:solidFill>
                  <a:schemeClr val="accent1"/>
                </a:solidFill>
              </a:rPr>
              <a:t>Which cases does my region run?</a:t>
            </a:r>
            <a:endParaRPr lang="en-US" sz="1400" dirty="0"/>
          </a:p>
        </p:txBody>
      </p:sp>
      <p:sp>
        <p:nvSpPr>
          <p:cNvPr id="34" name="a-6"/>
          <p:cNvSpPr txBox="1"/>
          <p:nvPr/>
        </p:nvSpPr>
        <p:spPr>
          <a:xfrm>
            <a:off x="987552" y="5925312"/>
            <a:ext cx="4837176" cy="365760"/>
          </a:xfrm>
          <a:prstGeom prst="rect">
            <a:avLst/>
          </a:prstGeom>
          <a:noFill/>
          <a:ln/>
        </p:spPr>
        <p:txBody>
          <a:bodyPr wrap="square" lIns="0" tIns="0" rIns="0" bIns="0" rtlCol="0" anchor="t"/>
          <a:lstStyle/>
          <a:p>
            <a:pPr indent="0" marL="0">
              <a:buNone/>
            </a:pPr>
            <a:r>
              <a:rPr lang="en-US" sz="1300" dirty="0">
                <a:solidFill>
                  <a:schemeClr val="bg1"/>
                </a:solidFill>
              </a:rPr>
              <a:t>Every region runs C3 and C6, then adds C1, C4, C2, C5 in that order. Regions with six or more rooms run all six.</a:t>
            </a:r>
            <a:endParaRPr lang="en-US" sz="1300" dirty="0"/>
          </a:p>
        </p:txBody>
      </p:sp>
      <p:sp>
        <p:nvSpPr>
          <p:cNvPr id="35" name="faq-7"/>
          <p:cNvSpPr/>
          <p:nvPr/>
        </p:nvSpPr>
        <p:spPr>
          <a:xfrm>
            <a:off x="6208776" y="1572768"/>
            <a:ext cx="5522976" cy="731520"/>
          </a:xfrm>
          <a:prstGeom prst="roundRect">
            <a:avLst>
              <a:gd name="adj" fmla="val 7500"/>
            </a:avLst>
          </a:prstGeom>
          <a:solidFill>
            <a:schemeClr val="tx2"/>
          </a:solidFill>
          <a:ln/>
        </p:spPr>
      </p:sp>
      <p:sp>
        <p:nvSpPr>
          <p:cNvPr id="36" name="Shape 34"/>
          <p:cNvSpPr/>
          <p:nvPr/>
        </p:nvSpPr>
        <p:spPr>
          <a:xfrm>
            <a:off x="6345936" y="1664208"/>
            <a:ext cx="274320" cy="274320"/>
          </a:xfrm>
          <a:prstGeom prst="ellipse">
            <a:avLst/>
          </a:prstGeom>
          <a:solidFill>
            <a:schemeClr val="accent2"/>
          </a:solidFill>
          <a:ln/>
        </p:spPr>
      </p:sp>
      <p:sp>
        <p:nvSpPr>
          <p:cNvPr id="37" name="Text 35"/>
          <p:cNvSpPr txBox="1"/>
          <p:nvPr/>
        </p:nvSpPr>
        <p:spPr>
          <a:xfrm>
            <a:off x="6345936" y="1664208"/>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7</a:t>
            </a:r>
            <a:endParaRPr lang="en-US" sz="1200" dirty="0"/>
          </a:p>
        </p:txBody>
      </p:sp>
      <p:sp>
        <p:nvSpPr>
          <p:cNvPr id="38" name="q-7"/>
          <p:cNvSpPr txBox="1"/>
          <p:nvPr/>
        </p:nvSpPr>
        <p:spPr>
          <a:xfrm>
            <a:off x="6739128" y="1655064"/>
            <a:ext cx="4837176" cy="256032"/>
          </a:xfrm>
          <a:prstGeom prst="rect">
            <a:avLst/>
          </a:prstGeom>
          <a:noFill/>
          <a:ln/>
        </p:spPr>
        <p:txBody>
          <a:bodyPr wrap="square" lIns="0" tIns="0" rIns="0" bIns="0" rtlCol="0" anchor="ctr"/>
          <a:lstStyle/>
          <a:p>
            <a:pPr indent="0" marL="0">
              <a:buNone/>
            </a:pPr>
            <a:r>
              <a:rPr lang="en-US" sz="1400" b="1" dirty="0">
                <a:solidFill>
                  <a:schemeClr val="accent2"/>
                </a:solidFill>
              </a:rPr>
              <a:t>How many people per room?</a:t>
            </a:r>
            <a:endParaRPr lang="en-US" sz="1400" dirty="0"/>
          </a:p>
        </p:txBody>
      </p:sp>
      <p:sp>
        <p:nvSpPr>
          <p:cNvPr id="39" name="a-7"/>
          <p:cNvSpPr txBox="1"/>
          <p:nvPr/>
        </p:nvSpPr>
        <p:spPr>
          <a:xfrm>
            <a:off x="6739128" y="1901952"/>
            <a:ext cx="4837176" cy="365760"/>
          </a:xfrm>
          <a:prstGeom prst="rect">
            <a:avLst/>
          </a:prstGeom>
          <a:noFill/>
          <a:ln/>
        </p:spPr>
        <p:txBody>
          <a:bodyPr wrap="square" lIns="0" tIns="0" rIns="0" bIns="0" rtlCol="0" anchor="t"/>
          <a:lstStyle/>
          <a:p>
            <a:pPr indent="0" marL="0">
              <a:buNone/>
            </a:pPr>
            <a:r>
              <a:rPr lang="en-US" sz="1300" dirty="0">
                <a:solidFill>
                  <a:schemeClr val="bg1"/>
                </a:solidFill>
              </a:rPr>
              <a:t>5 to 8 with mixed experience. Above 10, split into two rooms on the same case. In rooms of five or fewer, people combine roles.</a:t>
            </a:r>
            <a:endParaRPr lang="en-US" sz="1300" dirty="0"/>
          </a:p>
        </p:txBody>
      </p:sp>
      <p:sp>
        <p:nvSpPr>
          <p:cNvPr id="40" name="faq-8"/>
          <p:cNvSpPr/>
          <p:nvPr/>
        </p:nvSpPr>
        <p:spPr>
          <a:xfrm>
            <a:off x="6208776" y="2377440"/>
            <a:ext cx="5522976" cy="731520"/>
          </a:xfrm>
          <a:prstGeom prst="roundRect">
            <a:avLst>
              <a:gd name="adj" fmla="val 7500"/>
            </a:avLst>
          </a:prstGeom>
          <a:solidFill>
            <a:schemeClr val="tx2"/>
          </a:solidFill>
          <a:ln/>
        </p:spPr>
      </p:sp>
      <p:sp>
        <p:nvSpPr>
          <p:cNvPr id="41" name="Shape 39"/>
          <p:cNvSpPr/>
          <p:nvPr/>
        </p:nvSpPr>
        <p:spPr>
          <a:xfrm>
            <a:off x="6345936" y="2468880"/>
            <a:ext cx="274320" cy="274320"/>
          </a:xfrm>
          <a:prstGeom prst="ellipse">
            <a:avLst/>
          </a:prstGeom>
          <a:solidFill>
            <a:schemeClr val="accent2"/>
          </a:solidFill>
          <a:ln/>
        </p:spPr>
      </p:sp>
      <p:sp>
        <p:nvSpPr>
          <p:cNvPr id="42" name="Text 40"/>
          <p:cNvSpPr txBox="1"/>
          <p:nvPr/>
        </p:nvSpPr>
        <p:spPr>
          <a:xfrm>
            <a:off x="6345936" y="2468880"/>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8</a:t>
            </a:r>
            <a:endParaRPr lang="en-US" sz="1200" dirty="0"/>
          </a:p>
        </p:txBody>
      </p:sp>
      <p:sp>
        <p:nvSpPr>
          <p:cNvPr id="43" name="q-8"/>
          <p:cNvSpPr txBox="1"/>
          <p:nvPr/>
        </p:nvSpPr>
        <p:spPr>
          <a:xfrm>
            <a:off x="6739128" y="2459736"/>
            <a:ext cx="4837176" cy="256032"/>
          </a:xfrm>
          <a:prstGeom prst="rect">
            <a:avLst/>
          </a:prstGeom>
          <a:noFill/>
          <a:ln/>
        </p:spPr>
        <p:txBody>
          <a:bodyPr wrap="square" lIns="0" tIns="0" rIns="0" bIns="0" rtlCol="0" anchor="ctr"/>
          <a:lstStyle/>
          <a:p>
            <a:pPr indent="0" marL="0">
              <a:buNone/>
            </a:pPr>
            <a:r>
              <a:rPr lang="en-US" sz="1400" b="1" dirty="0">
                <a:solidFill>
                  <a:schemeClr val="accent2"/>
                </a:solidFill>
              </a:rPr>
              <a:t>What does the site provide?</a:t>
            </a:r>
            <a:endParaRPr lang="en-US" sz="1400" dirty="0"/>
          </a:p>
        </p:txBody>
      </p:sp>
      <p:sp>
        <p:nvSpPr>
          <p:cNvPr id="44" name="a-8"/>
          <p:cNvSpPr txBox="1"/>
          <p:nvPr/>
        </p:nvSpPr>
        <p:spPr>
          <a:xfrm>
            <a:off x="6739128" y="2706624"/>
            <a:ext cx="4837176" cy="365760"/>
          </a:xfrm>
          <a:prstGeom prst="rect">
            <a:avLst/>
          </a:prstGeom>
          <a:noFill/>
          <a:ln/>
        </p:spPr>
        <p:txBody>
          <a:bodyPr wrap="square" lIns="0" tIns="0" rIns="0" bIns="0" rtlCol="0" anchor="t"/>
          <a:lstStyle/>
          <a:p>
            <a:pPr indent="0" marL="0">
              <a:buNone/>
            </a:pPr>
            <a:r>
              <a:rPr lang="en-US" sz="1300" dirty="0">
                <a:solidFill>
                  <a:schemeClr val="bg1"/>
                </a:solidFill>
              </a:rPr>
              <a:t>Per room: a space near the plenary, a screen, network, the capture link and printed backups. In plenary: the live scoreboard.</a:t>
            </a:r>
            <a:endParaRPr lang="en-US" sz="1300" dirty="0"/>
          </a:p>
        </p:txBody>
      </p:sp>
      <p:sp>
        <p:nvSpPr>
          <p:cNvPr id="45" name="faq-9"/>
          <p:cNvSpPr/>
          <p:nvPr/>
        </p:nvSpPr>
        <p:spPr>
          <a:xfrm>
            <a:off x="6208776" y="3182112"/>
            <a:ext cx="5522976" cy="731520"/>
          </a:xfrm>
          <a:prstGeom prst="roundRect">
            <a:avLst>
              <a:gd name="adj" fmla="val 7500"/>
            </a:avLst>
          </a:prstGeom>
          <a:solidFill>
            <a:schemeClr val="tx2"/>
          </a:solidFill>
          <a:ln/>
        </p:spPr>
      </p:sp>
      <p:sp>
        <p:nvSpPr>
          <p:cNvPr id="46" name="Shape 44"/>
          <p:cNvSpPr/>
          <p:nvPr/>
        </p:nvSpPr>
        <p:spPr>
          <a:xfrm>
            <a:off x="6345936" y="3273552"/>
            <a:ext cx="274320" cy="274320"/>
          </a:xfrm>
          <a:prstGeom prst="ellipse">
            <a:avLst/>
          </a:prstGeom>
          <a:solidFill>
            <a:schemeClr val="accent2"/>
          </a:solidFill>
          <a:ln/>
        </p:spPr>
      </p:sp>
      <p:sp>
        <p:nvSpPr>
          <p:cNvPr id="47" name="Text 45"/>
          <p:cNvSpPr txBox="1"/>
          <p:nvPr/>
        </p:nvSpPr>
        <p:spPr>
          <a:xfrm>
            <a:off x="6345936" y="3273552"/>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9</a:t>
            </a:r>
            <a:endParaRPr lang="en-US" sz="1200" dirty="0"/>
          </a:p>
        </p:txBody>
      </p:sp>
      <p:sp>
        <p:nvSpPr>
          <p:cNvPr id="48" name="q-9"/>
          <p:cNvSpPr txBox="1"/>
          <p:nvPr/>
        </p:nvSpPr>
        <p:spPr>
          <a:xfrm>
            <a:off x="6739128" y="3264408"/>
            <a:ext cx="4837176" cy="256032"/>
          </a:xfrm>
          <a:prstGeom prst="rect">
            <a:avLst/>
          </a:prstGeom>
          <a:noFill/>
          <a:ln/>
        </p:spPr>
        <p:txBody>
          <a:bodyPr wrap="square" lIns="0" tIns="0" rIns="0" bIns="0" rtlCol="0" anchor="ctr"/>
          <a:lstStyle/>
          <a:p>
            <a:pPr indent="0" marL="0">
              <a:buNone/>
            </a:pPr>
            <a:r>
              <a:rPr lang="en-US" sz="1400" b="1" dirty="0">
                <a:solidFill>
                  <a:schemeClr val="accent2"/>
                </a:solidFill>
              </a:rPr>
              <a:t>Which data do rooms use?</a:t>
            </a:r>
            <a:endParaRPr lang="en-US" sz="1400" dirty="0"/>
          </a:p>
        </p:txBody>
      </p:sp>
      <p:sp>
        <p:nvSpPr>
          <p:cNvPr id="49" name="a-9"/>
          <p:cNvSpPr txBox="1"/>
          <p:nvPr/>
        </p:nvSpPr>
        <p:spPr>
          <a:xfrm>
            <a:off x="6739128" y="3511296"/>
            <a:ext cx="4837176" cy="365760"/>
          </a:xfrm>
          <a:prstGeom prst="rect">
            <a:avLst/>
          </a:prstGeom>
          <a:noFill/>
          <a:ln/>
        </p:spPr>
        <p:txBody>
          <a:bodyPr wrap="square" lIns="0" tIns="0" rIns="0" bIns="0" rtlCol="0" anchor="t"/>
          <a:lstStyle/>
          <a:p>
            <a:pPr indent="0" marL="0">
              <a:buNone/>
            </a:pPr>
            <a:r>
              <a:rPr lang="en-US" sz="1300" dirty="0">
                <a:solidFill>
                  <a:schemeClr val="bg1"/>
                </a:solidFill>
              </a:rPr>
              <a:t>Only the KESTREL case files, which hold no real project data. No customer or confidential data goes into any AI tool.</a:t>
            </a:r>
            <a:endParaRPr lang="en-US" sz="1300" dirty="0"/>
          </a:p>
        </p:txBody>
      </p:sp>
      <p:sp>
        <p:nvSpPr>
          <p:cNvPr id="50" name="faq-10"/>
          <p:cNvSpPr/>
          <p:nvPr/>
        </p:nvSpPr>
        <p:spPr>
          <a:xfrm>
            <a:off x="6208776" y="3986784"/>
            <a:ext cx="5522976" cy="731520"/>
          </a:xfrm>
          <a:prstGeom prst="roundRect">
            <a:avLst>
              <a:gd name="adj" fmla="val 7500"/>
            </a:avLst>
          </a:prstGeom>
          <a:solidFill>
            <a:schemeClr val="tx2"/>
          </a:solidFill>
          <a:ln/>
        </p:spPr>
      </p:sp>
      <p:sp>
        <p:nvSpPr>
          <p:cNvPr id="51" name="Shape 49"/>
          <p:cNvSpPr/>
          <p:nvPr/>
        </p:nvSpPr>
        <p:spPr>
          <a:xfrm>
            <a:off x="6345936" y="4078224"/>
            <a:ext cx="274320" cy="274320"/>
          </a:xfrm>
          <a:prstGeom prst="ellipse">
            <a:avLst/>
          </a:prstGeom>
          <a:solidFill>
            <a:schemeClr val="accent2"/>
          </a:solidFill>
          <a:ln/>
        </p:spPr>
      </p:sp>
      <p:sp>
        <p:nvSpPr>
          <p:cNvPr id="52" name="Text 50"/>
          <p:cNvSpPr txBox="1"/>
          <p:nvPr/>
        </p:nvSpPr>
        <p:spPr>
          <a:xfrm>
            <a:off x="6345936" y="4078224"/>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10</a:t>
            </a:r>
            <a:endParaRPr lang="en-US" sz="1200" dirty="0"/>
          </a:p>
        </p:txBody>
      </p:sp>
      <p:sp>
        <p:nvSpPr>
          <p:cNvPr id="53" name="q-10"/>
          <p:cNvSpPr txBox="1"/>
          <p:nvPr/>
        </p:nvSpPr>
        <p:spPr>
          <a:xfrm>
            <a:off x="6739128" y="4069080"/>
            <a:ext cx="4837176" cy="256032"/>
          </a:xfrm>
          <a:prstGeom prst="rect">
            <a:avLst/>
          </a:prstGeom>
          <a:noFill/>
          <a:ln/>
        </p:spPr>
        <p:txBody>
          <a:bodyPr wrap="square" lIns="0" tIns="0" rIns="0" bIns="0" rtlCol="0" anchor="ctr"/>
          <a:lstStyle/>
          <a:p>
            <a:pPr indent="0" marL="0">
              <a:buNone/>
            </a:pPr>
            <a:r>
              <a:rPr lang="en-US" sz="1400" b="1" dirty="0">
                <a:solidFill>
                  <a:schemeClr val="accent2"/>
                </a:solidFill>
              </a:rPr>
              <a:t>What if the tool or network fails?</a:t>
            </a:r>
            <a:endParaRPr lang="en-US" sz="1400" dirty="0"/>
          </a:p>
        </p:txBody>
      </p:sp>
      <p:sp>
        <p:nvSpPr>
          <p:cNvPr id="54" name="a-10"/>
          <p:cNvSpPr txBox="1"/>
          <p:nvPr/>
        </p:nvSpPr>
        <p:spPr>
          <a:xfrm>
            <a:off x="6739128" y="4315968"/>
            <a:ext cx="4837176" cy="365760"/>
          </a:xfrm>
          <a:prstGeom prst="rect">
            <a:avLst/>
          </a:prstGeom>
          <a:noFill/>
          <a:ln/>
        </p:spPr>
        <p:txBody>
          <a:bodyPr wrap="square" lIns="0" tIns="0" rIns="0" bIns="0" rtlCol="0" anchor="t"/>
          <a:lstStyle/>
          <a:p>
            <a:pPr indent="0" marL="0">
              <a:buNone/>
            </a:pPr>
            <a:r>
              <a:rPr lang="en-US" sz="1300" dirty="0">
                <a:solidFill>
                  <a:schemeClr val="bg1"/>
                </a:solidFill>
              </a:rPr>
              <a:t>After 3 minutes, switch to “Be the agent”: one person plays the agent on paper, so the room can still test its instructions.</a:t>
            </a:r>
            <a:endParaRPr lang="en-US" sz="1300" dirty="0"/>
          </a:p>
        </p:txBody>
      </p:sp>
      <p:sp>
        <p:nvSpPr>
          <p:cNvPr id="55" name="faq-11"/>
          <p:cNvSpPr/>
          <p:nvPr/>
        </p:nvSpPr>
        <p:spPr>
          <a:xfrm>
            <a:off x="6208776" y="4791456"/>
            <a:ext cx="5522976" cy="731520"/>
          </a:xfrm>
          <a:prstGeom prst="roundRect">
            <a:avLst>
              <a:gd name="adj" fmla="val 7500"/>
            </a:avLst>
          </a:prstGeom>
          <a:solidFill>
            <a:schemeClr val="tx2"/>
          </a:solidFill>
          <a:ln/>
        </p:spPr>
      </p:sp>
      <p:sp>
        <p:nvSpPr>
          <p:cNvPr id="56" name="Shape 54"/>
          <p:cNvSpPr/>
          <p:nvPr/>
        </p:nvSpPr>
        <p:spPr>
          <a:xfrm>
            <a:off x="6345936" y="4882896"/>
            <a:ext cx="274320" cy="274320"/>
          </a:xfrm>
          <a:prstGeom prst="ellipse">
            <a:avLst/>
          </a:prstGeom>
          <a:solidFill>
            <a:schemeClr val="accent2"/>
          </a:solidFill>
          <a:ln/>
        </p:spPr>
      </p:sp>
      <p:sp>
        <p:nvSpPr>
          <p:cNvPr id="57" name="Text 55"/>
          <p:cNvSpPr txBox="1"/>
          <p:nvPr/>
        </p:nvSpPr>
        <p:spPr>
          <a:xfrm>
            <a:off x="6345936" y="4882896"/>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11</a:t>
            </a:r>
            <a:endParaRPr lang="en-US" sz="1200" dirty="0"/>
          </a:p>
        </p:txBody>
      </p:sp>
      <p:sp>
        <p:nvSpPr>
          <p:cNvPr id="58" name="q-11"/>
          <p:cNvSpPr txBox="1"/>
          <p:nvPr/>
        </p:nvSpPr>
        <p:spPr>
          <a:xfrm>
            <a:off x="6739128" y="4873752"/>
            <a:ext cx="4837176" cy="256032"/>
          </a:xfrm>
          <a:prstGeom prst="rect">
            <a:avLst/>
          </a:prstGeom>
          <a:noFill/>
          <a:ln/>
        </p:spPr>
        <p:txBody>
          <a:bodyPr wrap="square" lIns="0" tIns="0" rIns="0" bIns="0" rtlCol="0" anchor="ctr"/>
          <a:lstStyle/>
          <a:p>
            <a:pPr indent="0" marL="0">
              <a:buNone/>
            </a:pPr>
            <a:r>
              <a:rPr lang="en-US" sz="1400" b="1" dirty="0">
                <a:solidFill>
                  <a:schemeClr val="accent2"/>
                </a:solidFill>
              </a:rPr>
              <a:t>What does each room deliver?</a:t>
            </a:r>
            <a:endParaRPr lang="en-US" sz="1400" dirty="0"/>
          </a:p>
        </p:txBody>
      </p:sp>
      <p:sp>
        <p:nvSpPr>
          <p:cNvPr id="59" name="a-11"/>
          <p:cNvSpPr txBox="1"/>
          <p:nvPr/>
        </p:nvSpPr>
        <p:spPr>
          <a:xfrm>
            <a:off x="6739128" y="5120640"/>
            <a:ext cx="4837176" cy="365760"/>
          </a:xfrm>
          <a:prstGeom prst="rect">
            <a:avLst/>
          </a:prstGeom>
          <a:noFill/>
          <a:ln/>
        </p:spPr>
        <p:txBody>
          <a:bodyPr wrap="square" lIns="0" tIns="0" rIns="0" bIns="0" rtlCol="0" anchor="t"/>
          <a:lstStyle/>
          <a:p>
            <a:pPr indent="0" marL="0">
              <a:buNone/>
            </a:pPr>
            <a:r>
              <a:rPr lang="en-US" sz="1300" dirty="0">
                <a:solidFill>
                  <a:schemeClr val="bg1"/>
                </a:solidFill>
              </a:rPr>
              <a:t>A Pilot Pack (agent instructions, hours back, guardrail, owner, first test) and a 90-second card for the Summit Debrief.</a:t>
            </a:r>
            <a:endParaRPr lang="en-US" sz="1300" dirty="0"/>
          </a:p>
        </p:txBody>
      </p:sp>
      <p:sp>
        <p:nvSpPr>
          <p:cNvPr id="60" name="faq-12"/>
          <p:cNvSpPr/>
          <p:nvPr/>
        </p:nvSpPr>
        <p:spPr>
          <a:xfrm>
            <a:off x="6208776" y="5596128"/>
            <a:ext cx="5522976" cy="731520"/>
          </a:xfrm>
          <a:prstGeom prst="roundRect">
            <a:avLst>
              <a:gd name="adj" fmla="val 7500"/>
            </a:avLst>
          </a:prstGeom>
          <a:solidFill>
            <a:schemeClr val="tx2"/>
          </a:solidFill>
          <a:ln/>
        </p:spPr>
      </p:sp>
      <p:sp>
        <p:nvSpPr>
          <p:cNvPr id="61" name="Shape 59"/>
          <p:cNvSpPr/>
          <p:nvPr/>
        </p:nvSpPr>
        <p:spPr>
          <a:xfrm>
            <a:off x="6345936" y="5687568"/>
            <a:ext cx="274320" cy="274320"/>
          </a:xfrm>
          <a:prstGeom prst="ellipse">
            <a:avLst/>
          </a:prstGeom>
          <a:solidFill>
            <a:schemeClr val="accent2"/>
          </a:solidFill>
          <a:ln/>
        </p:spPr>
      </p:sp>
      <p:sp>
        <p:nvSpPr>
          <p:cNvPr id="62" name="Text 60"/>
          <p:cNvSpPr txBox="1"/>
          <p:nvPr/>
        </p:nvSpPr>
        <p:spPr>
          <a:xfrm>
            <a:off x="6345936" y="5687568"/>
            <a:ext cx="274320" cy="274320"/>
          </a:xfrm>
          <a:prstGeom prst="rect">
            <a:avLst/>
          </a:prstGeom>
          <a:noFill/>
          <a:ln/>
        </p:spPr>
        <p:txBody>
          <a:bodyPr wrap="square" lIns="0" tIns="0" rIns="0" bIns="0" rtlCol="0" anchor="ctr"/>
          <a:lstStyle/>
          <a:p>
            <a:pPr algn="ctr" indent="0" marL="0">
              <a:buNone/>
            </a:pPr>
            <a:r>
              <a:rPr lang="en-US" sz="1200" b="1" dirty="0">
                <a:solidFill>
                  <a:schemeClr val="tx1"/>
                </a:solidFill>
              </a:rPr>
              <a:t>12</a:t>
            </a:r>
            <a:endParaRPr lang="en-US" sz="1200" dirty="0"/>
          </a:p>
        </p:txBody>
      </p:sp>
      <p:sp>
        <p:nvSpPr>
          <p:cNvPr id="63" name="q-12"/>
          <p:cNvSpPr txBox="1"/>
          <p:nvPr/>
        </p:nvSpPr>
        <p:spPr>
          <a:xfrm>
            <a:off x="6739128" y="5678424"/>
            <a:ext cx="4837176" cy="256032"/>
          </a:xfrm>
          <a:prstGeom prst="rect">
            <a:avLst/>
          </a:prstGeom>
          <a:noFill/>
          <a:ln/>
        </p:spPr>
        <p:txBody>
          <a:bodyPr wrap="square" lIns="0" tIns="0" rIns="0" bIns="0" rtlCol="0" anchor="ctr"/>
          <a:lstStyle/>
          <a:p>
            <a:pPr indent="0" marL="0">
              <a:buNone/>
            </a:pPr>
            <a:r>
              <a:rPr lang="en-US" sz="1400" b="1" dirty="0">
                <a:solidFill>
                  <a:schemeClr val="accent2"/>
                </a:solidFill>
              </a:rPr>
              <a:t>What happens after the summit?</a:t>
            </a:r>
            <a:endParaRPr lang="en-US" sz="1400" dirty="0"/>
          </a:p>
        </p:txBody>
      </p:sp>
      <p:sp>
        <p:nvSpPr>
          <p:cNvPr id="64" name="a-12"/>
          <p:cNvSpPr txBox="1"/>
          <p:nvPr/>
        </p:nvSpPr>
        <p:spPr>
          <a:xfrm>
            <a:off x="6739128" y="5925312"/>
            <a:ext cx="4837176" cy="365760"/>
          </a:xfrm>
          <a:prstGeom prst="rect">
            <a:avLst/>
          </a:prstGeom>
          <a:noFill/>
          <a:ln/>
        </p:spPr>
        <p:txBody>
          <a:bodyPr wrap="square" lIns="0" tIns="0" rIns="0" bIns="0" rtlCol="0" anchor="t"/>
          <a:lstStyle/>
          <a:p>
            <a:pPr indent="0" marL="0">
              <a:buNone/>
            </a:pPr>
            <a:r>
              <a:rPr lang="en-US" sz="1300" dirty="0">
                <a:solidFill>
                  <a:schemeClr val="bg1"/>
                </a:solidFill>
              </a:rPr>
              <a:t>Owners run their first test within two weeks. Packs are merged per case by 12 Nov; the 30-day readout follows in early December.</a:t>
            </a:r>
            <a:endParaRPr lang="en-US" sz="1300" dirty="0"/>
          </a:p>
        </p:txBody>
      </p:sp>
      <p:sp>
        <p:nvSpPr>
          <p:cNvPr id="25" name="Slide Number Placeholder 0"/>
          <p:cNvSpPr>
            <a:spLocks noGrp="1"/>
          </p:cNvSpPr>
          <p:nvPr>
            <p:ph type="sldNum" sz="quarter" idx="4294967295"/>
          </p:nvPr>
        </p:nvSpPr>
        <p:spPr>
          <a:xfrm>
            <a:off x="11274552" y="6437376"/>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A9BCCD"/>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PM Summit 2026 WS2">
  <a:themeElements>
    <a:clrScheme name="PM Summit 2026 WS2">
      <a:dk1>
        <a:srgbClr val="0B1A2B"/>
      </a:dk1>
      <a:lt1>
        <a:srgbClr val="FFFFFF"/>
      </a:lt1>
      <a:dk2>
        <a:srgbClr val="15283C"/>
      </a:dk2>
      <a:lt2>
        <a:srgbClr val="A9BCCD"/>
      </a:lt2>
      <a:accent1>
        <a:srgbClr val="F9B500"/>
      </a:accent1>
      <a:accent2>
        <a:srgbClr val="6CB4E4"/>
      </a:accent2>
      <a:accent3>
        <a:srgbClr val="C9D200"/>
      </a:accent3>
      <a:accent4>
        <a:srgbClr val="E8EEF3"/>
      </a:accent4>
      <a:accent5>
        <a:srgbClr val="1C6FA6"/>
      </a:accent5>
      <a:accent6>
        <a:srgbClr val="223A52"/>
      </a:accent6>
      <a:hlink>
        <a:srgbClr val="6CB4E4"/>
      </a:hlink>
      <a:folHlink>
        <a:srgbClr val="A9BCCD"/>
      </a:folHlink>
    </a:clrScheme>
    <a:fontScheme name="PM Summit 2026 WS2">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 Role in an AI World · site owner briefing</dc:title>
  <dc:subject>PM Summit 2026 · Workstream 2</dc:subject>
  <dc:creator>PptxGenJS</dc:creator>
  <cp:lastModifiedBy>PptxGenJS</cp:lastModifiedBy>
  <cp:revision>1</cp:revision>
  <dcterms:created xsi:type="dcterms:W3CDTF">2026-10-06T20:54:37Z</dcterms:created>
  <dcterms:modified xsi:type="dcterms:W3CDTF">2026-10-06T20:54:37Z</dcterms:modified>
</cp:coreProperties>
</file>